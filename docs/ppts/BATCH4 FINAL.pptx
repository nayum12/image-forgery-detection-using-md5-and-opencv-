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Lst>
  <p:sldIdLst>
    <p:sldId id="272" r:id="rId6"/>
    <p:sldId id="304" r:id="rId7"/>
    <p:sldId id="258" r:id="rId8"/>
    <p:sldId id="265" r:id="rId9"/>
    <p:sldId id="268" r:id="rId10"/>
    <p:sldId id="269" r:id="rId11"/>
    <p:sldId id="261" r:id="rId12"/>
    <p:sldId id="267" r:id="rId13"/>
    <p:sldId id="264" r:id="rId14"/>
    <p:sldId id="274" r:id="rId15"/>
    <p:sldId id="276" r:id="rId16"/>
    <p:sldId id="277" r:id="rId17"/>
    <p:sldId id="278" r:id="rId18"/>
    <p:sldId id="270" r:id="rId19"/>
    <p:sldId id="283" r:id="rId20"/>
    <p:sldId id="284" r:id="rId21"/>
    <p:sldId id="285" r:id="rId22"/>
    <p:sldId id="286" r:id="rId23"/>
    <p:sldId id="279" r:id="rId24"/>
    <p:sldId id="326" r:id="rId25"/>
    <p:sldId id="327" r:id="rId26"/>
    <p:sldId id="328" r:id="rId27"/>
    <p:sldId id="330" r:id="rId28"/>
    <p:sldId id="333" r:id="rId29"/>
    <p:sldId id="331" r:id="rId30"/>
    <p:sldId id="332" r:id="rId31"/>
    <p:sldId id="334" r:id="rId32"/>
    <p:sldId id="335" r:id="rId33"/>
    <p:sldId id="301" r:id="rId34"/>
    <p:sldId id="266" r:id="rId35"/>
    <p:sldId id="26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ADEBE36-1FEA-4CF3-A146-3E39E42774FF}">
          <p14:sldIdLst>
            <p14:sldId id="272"/>
            <p14:sldId id="304"/>
            <p14:sldId id="258"/>
            <p14:sldId id="265"/>
          </p14:sldIdLst>
        </p14:section>
        <p14:section name="Untitled Section" id="{C76F125A-2BB8-4BE2-8EE5-064EEFEEDB36}">
          <p14:sldIdLst>
            <p14:sldId id="268"/>
            <p14:sldId id="269"/>
            <p14:sldId id="261"/>
            <p14:sldId id="267"/>
            <p14:sldId id="264"/>
            <p14:sldId id="274"/>
            <p14:sldId id="276"/>
            <p14:sldId id="277"/>
            <p14:sldId id="278"/>
            <p14:sldId id="270"/>
            <p14:sldId id="283"/>
            <p14:sldId id="284"/>
            <p14:sldId id="285"/>
            <p14:sldId id="286"/>
            <p14:sldId id="279"/>
            <p14:sldId id="326"/>
            <p14:sldId id="327"/>
            <p14:sldId id="328"/>
            <p14:sldId id="330"/>
            <p14:sldId id="333"/>
            <p14:sldId id="331"/>
            <p14:sldId id="332"/>
            <p14:sldId id="334"/>
            <p14:sldId id="335"/>
            <p14:sldId id="301"/>
            <p14:sldId id="266"/>
            <p14:sldId id="26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8" d="100"/>
          <a:sy n="68" d="100"/>
        </p:scale>
        <p:origin x="81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4/19/2025</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4/19/2025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t>4/19/2025</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4/19/2025</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4/19/2025</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4/19/2025</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4/19/2025</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46.xml"/><Relationship Id="rId6" Type="http://schemas.openxmlformats.org/officeDocument/2006/relationships/customXml" Target="../ink/ink3.xml"/><Relationship Id="rId5" Type="http://schemas.openxmlformats.org/officeDocument/2006/relationships/image" Target="../media/image9.png"/><Relationship Id="rId10" Type="http://schemas.openxmlformats.org/officeDocument/2006/relationships/image" Target="../media/image8.jpeg"/><Relationship Id="rId4" Type="http://schemas.openxmlformats.org/officeDocument/2006/relationships/customXml" Target="../ink/ink2.xml"/><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46.xml"/><Relationship Id="rId6" Type="http://schemas.openxmlformats.org/officeDocument/2006/relationships/customXml" Target="../ink/ink7.xml"/><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customXml" Target="../ink/ink6.xml"/><Relationship Id="rId9"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46.xml"/><Relationship Id="rId6" Type="http://schemas.openxmlformats.org/officeDocument/2006/relationships/customXml" Target="../ink/ink11.xml"/><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customXml" Target="../ink/ink10.xml"/><Relationship Id="rId9"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ITS-T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643" y="103376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ctrTitle"/>
          </p:nvPr>
        </p:nvSpPr>
        <p:spPr>
          <a:xfrm>
            <a:off x="140208" y="78964"/>
            <a:ext cx="11905612" cy="6700071"/>
          </a:xfrm>
          <a:ln w="12700">
            <a:solidFill>
              <a:schemeClr val="bg2">
                <a:lumMod val="50000"/>
              </a:schemeClr>
            </a:solidFill>
          </a:ln>
        </p:spPr>
        <p:txBody>
          <a:bodyPr>
            <a:normAutofit/>
          </a:bodyPr>
          <a:lstStyle/>
          <a:p>
            <a:pPr marL="182880" indent="0" algn="ctr">
              <a:buNone/>
            </a:pPr>
            <a:br>
              <a:rPr lang="en-US" sz="1600" dirty="0">
                <a:solidFill>
                  <a:srgbClr val="FF0000"/>
                </a:solidFill>
                <a:effectLst/>
              </a:rPr>
            </a:br>
            <a:r>
              <a:rPr lang="en-US" sz="2400" dirty="0">
                <a:solidFill>
                  <a:srgbClr val="FF0000"/>
                </a:solidFill>
                <a:effectLst/>
                <a:latin typeface="Times New Roman" panose="02020603050405020304" pitchFamily="18" charset="0"/>
                <a:cs typeface="Times New Roman" panose="02020603050405020304" pitchFamily="18" charset="0"/>
              </a:rPr>
              <a:t>ANNAMACHARYA INSTITUTE OF TECHNOLOGY AND SCIENCES::TIRUPATI</a:t>
            </a:r>
            <a:br>
              <a:rPr lang="en-US" sz="2400" b="1" dirty="0">
                <a:solidFill>
                  <a:srgbClr val="FF0000"/>
                </a:solidFill>
                <a:effectLst/>
              </a:rPr>
            </a:br>
            <a:r>
              <a:rPr lang="en-IN" sz="2400" b="1" dirty="0">
                <a:solidFill>
                  <a:srgbClr val="FF0000"/>
                </a:solidFill>
                <a:effectLst/>
                <a:latin typeface="Times New Roman" panose="02020603050405020304" pitchFamily="18" charset="0"/>
                <a:cs typeface="Times New Roman" panose="02020603050405020304" pitchFamily="18" charset="0"/>
              </a:rPr>
              <a:t>(AUTONOMOUS)</a:t>
            </a:r>
            <a:br>
              <a:rPr lang="en-IN" sz="2400" b="1" dirty="0">
                <a:solidFill>
                  <a:srgbClr val="FF0000"/>
                </a:solidFill>
                <a:effectLst/>
              </a:rPr>
            </a:br>
            <a:br>
              <a:rPr lang="en-IN" sz="2400" b="1" dirty="0">
                <a:solidFill>
                  <a:srgbClr val="FF0000"/>
                </a:solidFill>
                <a:effectLst/>
              </a:rPr>
            </a:br>
            <a:r>
              <a:rPr lang="en-IN" sz="2800" b="1" dirty="0">
                <a:solidFill>
                  <a:srgbClr val="0033CC"/>
                </a:solidFill>
                <a:effectLst/>
                <a:latin typeface="Times New Roman" panose="02020603050405020304" pitchFamily="18" charset="0"/>
                <a:cs typeface="Times New Roman" panose="02020603050405020304" pitchFamily="18" charset="0"/>
              </a:rPr>
              <a:t>D</a:t>
            </a:r>
            <a:r>
              <a:rPr lang="en-IN" sz="2800" dirty="0">
                <a:solidFill>
                  <a:srgbClr val="0033CC"/>
                </a:solidFill>
                <a:effectLst/>
                <a:latin typeface="Times New Roman" panose="02020603050405020304" pitchFamily="18" charset="0"/>
                <a:cs typeface="Times New Roman" panose="02020603050405020304" pitchFamily="18" charset="0"/>
              </a:rPr>
              <a:t>EPARTMENT OF ARTIFICIAL INTELLIGENCE</a:t>
            </a:r>
            <a:br>
              <a:rPr lang="en-IN" sz="2400" dirty="0">
                <a:solidFill>
                  <a:srgbClr val="0033CC"/>
                </a:solidFill>
                <a:effectLst/>
              </a:rPr>
            </a:br>
            <a:r>
              <a:rPr lang="en-IN" sz="2400" dirty="0">
                <a:effectLst/>
                <a:latin typeface="Times New Roman" panose="02020603050405020304" pitchFamily="18" charset="0"/>
                <a:cs typeface="Times New Roman" panose="02020603050405020304" pitchFamily="18" charset="0"/>
              </a:rPr>
              <a:t>A.Y.: 2024-2025</a:t>
            </a:r>
            <a:br>
              <a:rPr lang="en-IN" sz="2400" dirty="0">
                <a:effectLst/>
                <a:latin typeface="Algerian" panose="04020705040A02060702" pitchFamily="82" charset="0"/>
              </a:rPr>
            </a:br>
            <a:br>
              <a:rPr lang="en-IN" sz="2400">
                <a:solidFill>
                  <a:srgbClr val="0033CC"/>
                </a:solidFill>
                <a:effectLst/>
              </a:rPr>
            </a:br>
            <a:r>
              <a:rPr lang="en-IN" sz="3200">
                <a:solidFill>
                  <a:schemeClr val="accent1">
                    <a:lumMod val="75000"/>
                  </a:schemeClr>
                </a:solidFill>
                <a:effectLst/>
                <a:latin typeface="Times New Roman" panose="02020603050405020304" pitchFamily="18" charset="0"/>
                <a:cs typeface="Times New Roman" panose="02020603050405020304" pitchFamily="18" charset="0"/>
              </a:rPr>
              <a:t>FINAL </a:t>
            </a:r>
            <a:r>
              <a:rPr lang="en-IN" sz="3200" dirty="0">
                <a:solidFill>
                  <a:schemeClr val="accent1">
                    <a:lumMod val="75000"/>
                  </a:schemeClr>
                </a:solidFill>
                <a:effectLst/>
                <a:latin typeface="Times New Roman" panose="02020603050405020304" pitchFamily="18" charset="0"/>
                <a:cs typeface="Times New Roman" panose="02020603050405020304" pitchFamily="18" charset="0"/>
              </a:rPr>
              <a:t>R</a:t>
            </a:r>
            <a:r>
              <a:rPr lang="en-IN" sz="3200" b="1" dirty="0">
                <a:solidFill>
                  <a:schemeClr val="accent1">
                    <a:lumMod val="75000"/>
                  </a:schemeClr>
                </a:solidFill>
                <a:effectLst/>
                <a:latin typeface="Times New Roman" panose="02020603050405020304" pitchFamily="18" charset="0"/>
                <a:cs typeface="Times New Roman" panose="02020603050405020304" pitchFamily="18" charset="0"/>
              </a:rPr>
              <a:t>EVIEW</a:t>
            </a:r>
            <a:br>
              <a:rPr lang="en-IN" sz="2700" b="1" dirty="0">
                <a:solidFill>
                  <a:schemeClr val="accent1">
                    <a:lumMod val="75000"/>
                  </a:schemeClr>
                </a:solidFill>
                <a:effectLst/>
              </a:rPr>
            </a:br>
            <a:r>
              <a:rPr lang="en-IN" sz="2200" b="1" dirty="0">
                <a:solidFill>
                  <a:schemeClr val="accent1">
                    <a:lumMod val="75000"/>
                  </a:schemeClr>
                </a:solidFill>
                <a:effectLst/>
              </a:rPr>
              <a:t>[</a:t>
            </a:r>
            <a:r>
              <a:rPr lang="en-IN" sz="2200" dirty="0">
                <a:solidFill>
                  <a:srgbClr val="0033CC"/>
                </a:solidFill>
                <a:effectLst/>
                <a:latin typeface="Times New Roman" panose="02020603050405020304" pitchFamily="18" charset="0"/>
                <a:cs typeface="Times New Roman" panose="02020603050405020304" pitchFamily="18" charset="0"/>
              </a:rPr>
              <a:t>Academic year: 2024-25  *  Batch: 2021-25</a:t>
            </a:r>
            <a:r>
              <a:rPr lang="en-IN" sz="2200" dirty="0">
                <a:solidFill>
                  <a:srgbClr val="0033CC"/>
                </a:solidFill>
                <a:effectLst/>
              </a:rPr>
              <a:t>] </a:t>
            </a: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3" name="TextBox 5"/>
          <p:cNvSpPr txBox="1"/>
          <p:nvPr/>
        </p:nvSpPr>
        <p:spPr>
          <a:xfrm>
            <a:off x="590136" y="4294708"/>
            <a:ext cx="4660090" cy="1631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solidFill>
                  <a:srgbClr val="FF0000"/>
                </a:solidFill>
              </a:rPr>
              <a:t>Under the Guidance of</a:t>
            </a:r>
          </a:p>
          <a:p>
            <a:r>
              <a:rPr lang="en-US" sz="2000" b="1" dirty="0" err="1">
                <a:solidFill>
                  <a:srgbClr val="0033CC"/>
                </a:solidFill>
              </a:rPr>
              <a:t>Mrs</a:t>
            </a:r>
            <a:r>
              <a:rPr lang="en-US" sz="2000" b="1" dirty="0">
                <a:solidFill>
                  <a:srgbClr val="0033CC"/>
                </a:solidFill>
              </a:rPr>
              <a:t> </a:t>
            </a:r>
            <a:r>
              <a:rPr lang="en-US" sz="2000" b="1" dirty="0" err="1">
                <a:solidFill>
                  <a:srgbClr val="0033CC"/>
                </a:solidFill>
              </a:rPr>
              <a:t>K.Jagadeeswari</a:t>
            </a:r>
            <a:r>
              <a:rPr lang="en-US" sz="2000" b="1" dirty="0">
                <a:solidFill>
                  <a:srgbClr val="0033CC"/>
                </a:solidFill>
              </a:rPr>
              <a:t>, </a:t>
            </a:r>
            <a:r>
              <a:rPr lang="en-US" sz="2000" b="1" dirty="0" err="1">
                <a:solidFill>
                  <a:srgbClr val="0033CC"/>
                </a:solidFill>
              </a:rPr>
              <a:t>M.Tech</a:t>
            </a:r>
            <a:r>
              <a:rPr lang="en-GB" sz="2000" b="1" dirty="0">
                <a:solidFill>
                  <a:srgbClr val="0033CC"/>
                </a:solidFill>
              </a:rPr>
              <a:t>., (</a:t>
            </a:r>
            <a:r>
              <a:rPr lang="en-GB" sz="2000" b="1" dirty="0" err="1">
                <a:solidFill>
                  <a:srgbClr val="0033CC"/>
                </a:solidFill>
              </a:rPr>
              <a:t>Ph.D</a:t>
            </a:r>
            <a:r>
              <a:rPr lang="en-GB" sz="2000" b="1" dirty="0">
                <a:solidFill>
                  <a:srgbClr val="0033CC"/>
                </a:solidFill>
              </a:rPr>
              <a:t>)</a:t>
            </a:r>
          </a:p>
          <a:p>
            <a:r>
              <a:rPr lang="en-GB" sz="2000" b="1" dirty="0"/>
              <a:t>Assistant Professor</a:t>
            </a:r>
          </a:p>
          <a:p>
            <a:r>
              <a:rPr lang="en-GB" sz="2000" b="1" dirty="0"/>
              <a:t>Department of AI</a:t>
            </a:r>
          </a:p>
          <a:p>
            <a:r>
              <a:rPr lang="en-GB" sz="2000" b="1" dirty="0"/>
              <a:t>AITS, Tirupati.</a:t>
            </a:r>
            <a:endParaRPr lang="en-IN" sz="2000" b="1" dirty="0"/>
          </a:p>
        </p:txBody>
      </p:sp>
      <p:sp>
        <p:nvSpPr>
          <p:cNvPr id="5" name="TextBox 6"/>
          <p:cNvSpPr txBox="1"/>
          <p:nvPr/>
        </p:nvSpPr>
        <p:spPr>
          <a:xfrm>
            <a:off x="7148254" y="4294708"/>
            <a:ext cx="4770782" cy="1631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solidFill>
                  <a:srgbClr val="FF0000"/>
                </a:solidFill>
              </a:rPr>
              <a:t>Head of the Department</a:t>
            </a:r>
          </a:p>
          <a:p>
            <a:r>
              <a:rPr lang="en-GB" sz="2000" b="1" dirty="0" err="1">
                <a:solidFill>
                  <a:srgbClr val="0033CC"/>
                </a:solidFill>
              </a:rPr>
              <a:t>Dr.</a:t>
            </a:r>
            <a:r>
              <a:rPr lang="en-GB" sz="2000" b="1" dirty="0">
                <a:solidFill>
                  <a:srgbClr val="0033CC"/>
                </a:solidFill>
              </a:rPr>
              <a:t> </a:t>
            </a:r>
            <a:r>
              <a:rPr lang="en-GB" sz="2000" b="1" dirty="0" err="1">
                <a:solidFill>
                  <a:srgbClr val="0033CC"/>
                </a:solidFill>
              </a:rPr>
              <a:t>C.Siva</a:t>
            </a:r>
            <a:r>
              <a:rPr lang="en-GB" sz="2000" b="1" dirty="0">
                <a:solidFill>
                  <a:srgbClr val="0033CC"/>
                </a:solidFill>
              </a:rPr>
              <a:t> Balaji Yadav, </a:t>
            </a:r>
            <a:r>
              <a:rPr lang="en-GB" sz="2000" b="1" dirty="0" err="1">
                <a:solidFill>
                  <a:srgbClr val="0033CC"/>
                </a:solidFill>
              </a:rPr>
              <a:t>M.Tech</a:t>
            </a:r>
            <a:r>
              <a:rPr lang="en-GB" sz="2000" b="1" dirty="0">
                <a:solidFill>
                  <a:srgbClr val="0033CC"/>
                </a:solidFill>
              </a:rPr>
              <a:t>., </a:t>
            </a:r>
            <a:r>
              <a:rPr lang="en-GB" sz="2000" b="1" dirty="0" err="1">
                <a:solidFill>
                  <a:srgbClr val="0033CC"/>
                </a:solidFill>
              </a:rPr>
              <a:t>Ph.D</a:t>
            </a:r>
            <a:endParaRPr lang="en-GB" sz="2000" b="1" dirty="0">
              <a:solidFill>
                <a:srgbClr val="0033CC"/>
              </a:solidFill>
            </a:endParaRPr>
          </a:p>
          <a:p>
            <a:r>
              <a:rPr lang="en-GB" sz="2000" b="1" dirty="0"/>
              <a:t>Associate Professor</a:t>
            </a:r>
          </a:p>
          <a:p>
            <a:r>
              <a:rPr lang="en-GB" sz="2000" b="1" dirty="0"/>
              <a:t>Department of AI</a:t>
            </a:r>
          </a:p>
          <a:p>
            <a:r>
              <a:rPr lang="en-GB" sz="2000" b="1" dirty="0"/>
              <a:t>AITS, Tirupati</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637" y="305128"/>
            <a:ext cx="11908662" cy="690552"/>
          </a:xfrm>
          <a:ln>
            <a:solidFill>
              <a:schemeClr val="bg2">
                <a:lumMod val="50000"/>
              </a:schemeClr>
            </a:solidFill>
          </a:ln>
        </p:spPr>
        <p:txBody>
          <a:bodyPr>
            <a:normAutofit/>
          </a:bodyPr>
          <a:lstStyle/>
          <a:p>
            <a:pPr marL="0" indent="0" algn="l">
              <a:buNone/>
              <a:tabLst>
                <a:tab pos="355600" algn="l"/>
              </a:tabLst>
            </a:pPr>
            <a:r>
              <a:rPr lang="en-US" sz="3200" dirty="0">
                <a:solidFill>
                  <a:srgbClr val="6666FF"/>
                </a:solidFill>
              </a:rPr>
              <a:t>	                                </a:t>
            </a:r>
            <a:r>
              <a:rPr lang="en-US" sz="3200" dirty="0">
                <a:solidFill>
                  <a:srgbClr val="0070C0"/>
                </a:solidFill>
              </a:rPr>
              <a:t>PROJECT TITLE</a:t>
            </a:r>
            <a:endParaRPr lang="en-IN" sz="3200" b="1" dirty="0">
              <a:solidFill>
                <a:srgbClr val="0070C0"/>
              </a:solidFill>
            </a:endParaRPr>
          </a:p>
        </p:txBody>
      </p:sp>
      <p:sp>
        <p:nvSpPr>
          <p:cNvPr id="6" name="Title 1"/>
          <p:cNvSpPr txBox="1"/>
          <p:nvPr/>
        </p:nvSpPr>
        <p:spPr>
          <a:xfrm>
            <a:off x="102637" y="317241"/>
            <a:ext cx="11908661" cy="6438122"/>
          </a:xfrm>
          <a:prstGeom prst="rect">
            <a:avLst/>
          </a:prstGeom>
          <a:ln w="12700">
            <a:solidFill>
              <a:schemeClr val="bg2">
                <a:lumMod val="50000"/>
              </a:schemeClr>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82880" indent="0" algn="ctr">
              <a:buFont typeface="Georgia" panose="02040502050405020303" pitchFamily="18" charset="0"/>
              <a:buNone/>
            </a:pPr>
            <a:br>
              <a:rPr lang="en-US" sz="1600" dirty="0">
                <a:solidFill>
                  <a:srgbClr val="FF0000"/>
                </a:solidFill>
                <a:effectLst/>
              </a:rPr>
            </a:b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5" name="TextBox 4"/>
          <p:cNvSpPr txBox="1"/>
          <p:nvPr/>
        </p:nvSpPr>
        <p:spPr>
          <a:xfrm>
            <a:off x="2649057" y="3618430"/>
            <a:ext cx="6893886" cy="200054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t>  		</a:t>
            </a:r>
            <a:r>
              <a:rPr lang="en-GB" sz="2400" b="1" dirty="0">
                <a:solidFill>
                  <a:srgbClr val="FF0000"/>
                </a:solidFill>
              </a:rPr>
              <a:t>AIDS-1</a:t>
            </a:r>
            <a:r>
              <a:rPr lang="en-GB" sz="2000" b="1" dirty="0">
                <a:solidFill>
                  <a:srgbClr val="FF0000"/>
                </a:solidFill>
              </a:rPr>
              <a:t>- </a:t>
            </a:r>
            <a:r>
              <a:rPr lang="en-GB" sz="2400" b="1" dirty="0">
                <a:solidFill>
                  <a:srgbClr val="FF0000"/>
                </a:solidFill>
              </a:rPr>
              <a:t>BATCH NO: 04</a:t>
            </a:r>
          </a:p>
          <a:p>
            <a:endParaRPr lang="en-GB" sz="2000" b="1" dirty="0">
              <a:solidFill>
                <a:schemeClr val="accent6"/>
              </a:solidFill>
            </a:endParaRPr>
          </a:p>
          <a:p>
            <a:pPr algn="just"/>
            <a:r>
              <a:rPr lang="en-US" sz="2000" b="1" dirty="0"/>
              <a:t>21AK1A3033  		            P.LAKSHMI PRIYANKA</a:t>
            </a:r>
          </a:p>
          <a:p>
            <a:pPr algn="just"/>
            <a:r>
              <a:rPr lang="en-US" sz="2000" b="1" dirty="0"/>
              <a:t>21AK1A3017 		            V. GANESH</a:t>
            </a:r>
          </a:p>
          <a:p>
            <a:pPr algn="just"/>
            <a:r>
              <a:rPr lang="en-US" sz="2000" b="1" dirty="0"/>
              <a:t>21AK1A3051			      M.NAYUM BASHA</a:t>
            </a:r>
          </a:p>
          <a:p>
            <a:r>
              <a:rPr lang="en-US" sz="2000" b="1" dirty="0"/>
              <a:t>21AK1A3037 			      B.MAMATHA</a:t>
            </a:r>
            <a:endParaRPr lang="en-IN" sz="2000" b="1" dirty="0"/>
          </a:p>
        </p:txBody>
      </p:sp>
      <p:sp>
        <p:nvSpPr>
          <p:cNvPr id="7" name="Text Box 5"/>
          <p:cNvSpPr txBox="1">
            <a:spLocks noChangeArrowheads="1"/>
          </p:cNvSpPr>
          <p:nvPr/>
        </p:nvSpPr>
        <p:spPr bwMode="auto">
          <a:xfrm>
            <a:off x="1588061" y="2084895"/>
            <a:ext cx="8937812" cy="1018319"/>
          </a:xfrm>
          <a:prstGeom prst="rect">
            <a:avLst/>
          </a:prstGeom>
          <a:noFill/>
          <a:ln w="9525">
            <a:solidFill>
              <a:srgbClr val="3465A4"/>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IN" b="1" dirty="0">
                <a:latin typeface="Times New Roman" panose="02020603050405020304" pitchFamily="18" charset="0"/>
                <a:cs typeface="Times New Roman" panose="02020603050405020304" pitchFamily="18" charset="0"/>
              </a:rPr>
              <a:t>Image Forgery detection using MD5 and openCV</a:t>
            </a: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ABSTRACT</a:t>
            </a:r>
            <a:endParaRPr lang="en-IN" sz="3200" b="1" dirty="0">
              <a:solidFill>
                <a:srgbClr val="6666FF"/>
              </a:solidFill>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fontScale="92500"/>
          </a:bodyPr>
          <a:lstStyle/>
          <a:p>
            <a:pPr marL="4572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45720" indent="0" algn="just">
              <a:lnSpc>
                <a:spcPct val="150000"/>
              </a:lnSpc>
              <a:buNone/>
            </a:pPr>
            <a:r>
              <a:rPr lang="en-IN" sz="1800" dirty="0">
                <a:latin typeface="Times New Roman" panose="02020603050405020304" pitchFamily="18" charset="0"/>
                <a:cs typeface="Times New Roman" panose="02020603050405020304" pitchFamily="18" charset="0"/>
              </a:rPr>
              <a:t>Because cameras are so widely accessible, taking pictures has grown in popularity recently. Photos are crucial to our everyday lives since they are replete with information, and it is sometimes necessary to improve images in order to get more information. Although there are many technologies available to enhance picture quality, they are also regularly used to alter photos, which leads to the dissemination of false information. This makes picture forgeries more severe and frequent, which is now a major cause of worry. To identify fake images, several conventional methods have been developed over time.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 have drawn a lot of interest in recent years, and they have also had an impact on the area of picture fraud detection. However, the majority of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-based picture forgery detection methods currently used in the literature are restricted to identifying a certain kind of fraud (either image splicing or copy-move). Therefore, it is necessary to develop a method that can quickly and precisely identify any hidden forgeries in an image. In the context of double image compression, we describe in this study a robust deep learning-based approach for detecting picture forgeries.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 indent="0" algn="just">
              <a:lnSpc>
                <a:spcPct val="150000"/>
              </a:lnSpc>
              <a:buNone/>
            </a:pP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DOMAIN INTRODUCTION</a:t>
            </a:r>
            <a:endParaRPr lang="en-IN" sz="3200" b="1" dirty="0">
              <a:solidFill>
                <a:srgbClr val="6666FF"/>
              </a:solidFill>
            </a:endParaRPr>
          </a:p>
        </p:txBody>
      </p:sp>
      <p:sp>
        <p:nvSpPr>
          <p:cNvPr id="5" name="Rectangle 2"/>
          <p:cNvSpPr>
            <a:spLocks noGrp="1" noChangeArrowheads="1"/>
          </p:cNvSpPr>
          <p:nvPr>
            <p:ph sz="quarter" idx="13"/>
          </p:nvPr>
        </p:nvSpPr>
        <p:spPr bwMode="auto">
          <a:xfrm>
            <a:off x="738957" y="1634664"/>
            <a:ext cx="11218460" cy="448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forgery involves manipulation techniques like splicing, cloning, and retouching to alter the content of digital images.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Detecting forgeries is crucial in fields such as journalism, law enforcement, and digital security to ensure authenticity and reliability.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provides essential tools for image processing, feature extraction, and pattern recognition, aiding in the detection of forged regions.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MD5 hashing generates unique hash values for images, allowing comparison and detection of tampering through hash mismatches.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detection techniques include error level analysis, pixel-level feature analysis, and identifying inconsistencies in image artifacts.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 range from verifying digital evidence to authenticating social media content and combating misinformation.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this domain include detecting forgeries in low-resolution images, addressing advanced editing techniques, and countering adversarial manipulations.</a:t>
            </a:r>
          </a:p>
          <a:p>
            <a:pPr marL="0" marR="0" lvl="0" indent="0" algn="l" defTabSz="914400" rtl="0" eaLnBrk="0" fontAlgn="base" latinLnBrk="0" hangingPunct="0">
              <a:lnSpc>
                <a:spcPct val="150000"/>
              </a:lnSpc>
              <a:spcBef>
                <a:spcPct val="0"/>
              </a:spcBef>
              <a:spcAft>
                <a:spcPct val="0"/>
              </a:spcAft>
              <a:buClrTx/>
              <a:buSzTx/>
              <a:buFontTx/>
              <a:buNone/>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7455" y="805934"/>
            <a:ext cx="8118764" cy="369332"/>
          </a:xfrm>
          <a:prstGeom prst="rect">
            <a:avLst/>
          </a:prstGeom>
          <a:noFill/>
        </p:spPr>
        <p:txBody>
          <a:bodyPr wrap="square">
            <a:spAutoFit/>
          </a:bodyPr>
          <a:lstStyle/>
          <a:p>
            <a:pPr algn="ctr"/>
            <a:r>
              <a:rPr lang="en-US" sz="1800" b="1" dirty="0">
                <a:solidFill>
                  <a:srgbClr val="6666FF"/>
                </a:solidFill>
              </a:rPr>
              <a:t>EXISTING </a:t>
            </a:r>
            <a:r>
              <a:rPr lang="en-US" b="1" dirty="0">
                <a:solidFill>
                  <a:srgbClr val="6666FF"/>
                </a:solidFill>
              </a:rPr>
              <a:t>SYSTEM </a:t>
            </a:r>
            <a:endParaRPr lang="en-IN" dirty="0"/>
          </a:p>
        </p:txBody>
      </p:sp>
      <p:sp>
        <p:nvSpPr>
          <p:cNvPr id="8" name="TextBox 7"/>
          <p:cNvSpPr txBox="1"/>
          <p:nvPr/>
        </p:nvSpPr>
        <p:spPr>
          <a:xfrm>
            <a:off x="4237219" y="2720293"/>
            <a:ext cx="4195581" cy="646331"/>
          </a:xfrm>
          <a:prstGeom prst="rect">
            <a:avLst/>
          </a:prstGeom>
          <a:noFill/>
        </p:spPr>
        <p:txBody>
          <a:bodyPr wrap="square" rtlCol="0">
            <a:spAutoFit/>
          </a:bodyPr>
          <a:lstStyle/>
          <a:p>
            <a:pPr algn="ctr"/>
            <a:r>
              <a:rPr lang="en-US" sz="1800" b="1" dirty="0">
                <a:solidFill>
                  <a:srgbClr val="6666FF"/>
                </a:solidFill>
              </a:rPr>
              <a:t>DISADVANTAGES OF EXISTING </a:t>
            </a:r>
            <a:r>
              <a:rPr lang="en-US" b="1" dirty="0">
                <a:solidFill>
                  <a:srgbClr val="6666FF"/>
                </a:solidFill>
              </a:rPr>
              <a:t>SYSTEM </a:t>
            </a:r>
            <a:endParaRPr lang="en-IN" dirty="0"/>
          </a:p>
          <a:p>
            <a:endParaRPr lang="en-IN" dirty="0"/>
          </a:p>
        </p:txBody>
      </p:sp>
      <p:sp>
        <p:nvSpPr>
          <p:cNvPr id="2" name="TextBox 1"/>
          <p:cNvSpPr txBox="1"/>
          <p:nvPr/>
        </p:nvSpPr>
        <p:spPr>
          <a:xfrm>
            <a:off x="815789" y="1225036"/>
            <a:ext cx="10803755" cy="786754"/>
          </a:xfrm>
          <a:prstGeom prst="rect">
            <a:avLst/>
          </a:prstGeom>
          <a:noFill/>
        </p:spPr>
        <p:txBody>
          <a:bodyPr wrap="square" rtlCol="0">
            <a:spAutoFit/>
          </a:bodyPr>
          <a:lstStyle/>
          <a:p>
            <a:pPr marL="0" indent="0" algn="just">
              <a:lnSpc>
                <a:spcPct val="150000"/>
              </a:lnSpc>
              <a:spcAft>
                <a:spcPts val="800"/>
              </a:spcAft>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early days, to detect the forgery of images is a complex thing. It requires more manual power and it’s a time taking process. There is no accurate detection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Time </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taking</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Low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igh computational cost</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Lack of Robustness</a:t>
            </a:r>
          </a:p>
          <a:p>
            <a:pPr marL="285750" indent="-285750" algn="just">
              <a:lnSpc>
                <a:spcPct val="150000"/>
              </a:lnSpc>
              <a:spcAft>
                <a:spcPts val="8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Inability to Handle Advanced Forgery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7455" y="805934"/>
            <a:ext cx="8118764" cy="369332"/>
          </a:xfrm>
          <a:prstGeom prst="rect">
            <a:avLst/>
          </a:prstGeom>
          <a:noFill/>
        </p:spPr>
        <p:txBody>
          <a:bodyPr wrap="square">
            <a:spAutoFit/>
          </a:bodyPr>
          <a:lstStyle/>
          <a:p>
            <a:pPr algn="ctr"/>
            <a:r>
              <a:rPr lang="en-US" b="1" dirty="0">
                <a:solidFill>
                  <a:srgbClr val="6666FF"/>
                </a:solidFill>
              </a:rPr>
              <a:t>PROPOSED</a:t>
            </a:r>
            <a:r>
              <a:rPr lang="en-US" sz="1800" b="1" dirty="0">
                <a:solidFill>
                  <a:srgbClr val="6666FF"/>
                </a:solidFill>
              </a:rPr>
              <a:t> </a:t>
            </a:r>
            <a:r>
              <a:rPr lang="en-US" b="1" dirty="0">
                <a:solidFill>
                  <a:srgbClr val="6666FF"/>
                </a:solidFill>
              </a:rPr>
              <a:t>SYSTEM </a:t>
            </a:r>
            <a:endParaRPr lang="en-IN" dirty="0"/>
          </a:p>
        </p:txBody>
      </p:sp>
      <p:sp>
        <p:nvSpPr>
          <p:cNvPr id="8" name="TextBox 7"/>
          <p:cNvSpPr txBox="1"/>
          <p:nvPr/>
        </p:nvSpPr>
        <p:spPr>
          <a:xfrm>
            <a:off x="4237219" y="2720293"/>
            <a:ext cx="3960893" cy="923330"/>
          </a:xfrm>
          <a:prstGeom prst="rect">
            <a:avLst/>
          </a:prstGeom>
          <a:noFill/>
        </p:spPr>
        <p:txBody>
          <a:bodyPr wrap="square" rtlCol="0">
            <a:spAutoFit/>
          </a:bodyPr>
          <a:lstStyle/>
          <a:p>
            <a:pPr algn="ctr"/>
            <a:r>
              <a:rPr lang="en-US" sz="1800" b="1" dirty="0">
                <a:solidFill>
                  <a:srgbClr val="6666FF"/>
                </a:solidFill>
              </a:rPr>
              <a:t>ADVANTAGES OF </a:t>
            </a:r>
            <a:r>
              <a:rPr lang="en-US" b="1" dirty="0">
                <a:solidFill>
                  <a:srgbClr val="6666FF"/>
                </a:solidFill>
              </a:rPr>
              <a:t>PROPOSED</a:t>
            </a:r>
            <a:r>
              <a:rPr lang="en-US" sz="1800" b="1" dirty="0">
                <a:solidFill>
                  <a:srgbClr val="6666FF"/>
                </a:solidFill>
              </a:rPr>
              <a:t> </a:t>
            </a:r>
            <a:r>
              <a:rPr lang="en-US" b="1" dirty="0">
                <a:solidFill>
                  <a:srgbClr val="6666FF"/>
                </a:solidFill>
              </a:rPr>
              <a:t>SYSTEM</a:t>
            </a:r>
            <a:endParaRPr lang="en-IN" dirty="0"/>
          </a:p>
          <a:p>
            <a:endParaRPr lang="en-IN" dirty="0"/>
          </a:p>
        </p:txBody>
      </p:sp>
      <p:sp>
        <p:nvSpPr>
          <p:cNvPr id="2" name="TextBox 1"/>
          <p:cNvSpPr txBox="1"/>
          <p:nvPr/>
        </p:nvSpPr>
        <p:spPr>
          <a:xfrm>
            <a:off x="815789" y="1225036"/>
            <a:ext cx="10803755" cy="786754"/>
          </a:xfrm>
          <a:prstGeom prst="rect">
            <a:avLst/>
          </a:prstGeom>
          <a:noFill/>
        </p:spPr>
        <p:txBody>
          <a:bodyPr wrap="square" rtlCol="0">
            <a:spAutoFit/>
          </a:bodyPr>
          <a:lstStyle/>
          <a:p>
            <a:pPr marL="0" indent="0" algn="just">
              <a:lnSpc>
                <a:spcPct val="150000"/>
              </a:lnSpc>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this proposed method, we are using deep learning methods to detect the image forgery. We can detect the image forgery with high accuracy by using </a:t>
            </a:r>
            <a:r>
              <a:rPr lang="en-US" sz="1600" dirty="0" err="1">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openCV</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and MD5 methods. MD5 gives the better performance in image detection.</a:t>
            </a:r>
          </a:p>
        </p:txBody>
      </p:sp>
      <p:sp>
        <p:nvSpPr>
          <p:cNvPr id="3" name="TextBox 2"/>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Requires less time</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High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Better adaptability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Efficient and Scalable</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Robust forgery</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detection</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580" y="207985"/>
            <a:ext cx="9286993" cy="619329"/>
          </a:xfrm>
        </p:spPr>
        <p:txBody>
          <a:bodyPr>
            <a:normAutofit/>
          </a:bodyPr>
          <a:lstStyle/>
          <a:p>
            <a:pPr marL="0" indent="0" algn="ctr">
              <a:buNone/>
            </a:pPr>
            <a:r>
              <a:rPr lang="en-IN" sz="3200" b="1" dirty="0">
                <a:solidFill>
                  <a:srgbClr val="6666FF"/>
                </a:solidFill>
              </a:rPr>
              <a:t>LITERATURE SURVEY</a:t>
            </a:r>
          </a:p>
        </p:txBody>
      </p:sp>
      <p:graphicFrame>
        <p:nvGraphicFramePr>
          <p:cNvPr id="4" name="Table 3"/>
          <p:cNvGraphicFramePr>
            <a:graphicFrameLocks noGrp="1"/>
          </p:cNvGraphicFramePr>
          <p:nvPr/>
        </p:nvGraphicFramePr>
        <p:xfrm>
          <a:off x="132550" y="978434"/>
          <a:ext cx="11926899" cy="5779158"/>
        </p:xfrm>
        <a:graphic>
          <a:graphicData uri="http://schemas.openxmlformats.org/drawingml/2006/table">
            <a:tbl>
              <a:tblPr firstRow="1" bandRow="1">
                <a:tableStyleId>{5C22544A-7EE6-4342-B048-85BDC9FD1C3A}</a:tableStyleId>
              </a:tblPr>
              <a:tblGrid>
                <a:gridCol w="808744">
                  <a:extLst>
                    <a:ext uri="{9D8B030D-6E8A-4147-A177-3AD203B41FA5}">
                      <a16:colId xmlns:a16="http://schemas.microsoft.com/office/drawing/2014/main" val="20000"/>
                    </a:ext>
                  </a:extLst>
                </a:gridCol>
                <a:gridCol w="2053697">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gridCol w="1634608">
                  <a:extLst>
                    <a:ext uri="{9D8B030D-6E8A-4147-A177-3AD203B41FA5}">
                      <a16:colId xmlns:a16="http://schemas.microsoft.com/office/drawing/2014/main" val="20004"/>
                    </a:ext>
                  </a:extLst>
                </a:gridCol>
                <a:gridCol w="2553050">
                  <a:extLst>
                    <a:ext uri="{9D8B030D-6E8A-4147-A177-3AD203B41FA5}">
                      <a16:colId xmlns:a16="http://schemas.microsoft.com/office/drawing/2014/main" val="20005"/>
                    </a:ext>
                  </a:extLst>
                </a:gridCol>
              </a:tblGrid>
              <a:tr h="944718">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601282">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Image splicing forgery detection combining coarse to refined convolutional neural network and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paper proposes a splicing forgery detection method with two parts: a coarse-to-refined convolutional neural network (C2RNet) and diluted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b="0" dirty="0">
                          <a:latin typeface="Times New Roman" panose="02020603050405020304" pitchFamily="18" charset="0"/>
                          <a:cs typeface="Times New Roman" panose="02020603050405020304" pitchFamily="18" charset="0"/>
                        </a:rPr>
                        <a:t>Coarse-to-Refined Convolutional Neural Network (CNN),</a:t>
                      </a:r>
                    </a:p>
                    <a:p>
                      <a:pPr algn="l"/>
                      <a:r>
                        <a:rPr lang="en-US" sz="1600" b="0" dirty="0">
                          <a:latin typeface="Times New Roman" panose="02020603050405020304" pitchFamily="18" charset="0"/>
                          <a:cs typeface="Times New Roman" panose="02020603050405020304" pitchFamily="18" charset="0"/>
                        </a:rPr>
                        <a:t>Adaptive Clustering</a:t>
                      </a:r>
                    </a:p>
                  </a:txBody>
                  <a:tcPr/>
                </a:tc>
                <a:tc>
                  <a:txBody>
                    <a:bodyPr/>
                    <a:lstStyle/>
                    <a:p>
                      <a:pPr algn="l"/>
                      <a:r>
                        <a:rPr lang="en-US" sz="1600" dirty="0">
                          <a:latin typeface="Times New Roman" panose="02020603050405020304" pitchFamily="18" charset="0"/>
                          <a:cs typeface="Times New Roman" panose="02020603050405020304" pitchFamily="18" charset="0"/>
                        </a:rPr>
                        <a:t>2020</a:t>
                      </a:r>
                    </a:p>
                    <a:p>
                      <a:pPr algn="l"/>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Xiao, B.; Wei, Y.; Bi, X.; Li, W.; Ma, J</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33158">
                <a:tc>
                  <a:txBody>
                    <a:bodyPr/>
                    <a:lstStyle/>
                    <a:p>
                      <a:pPr algn="ctr"/>
                      <a:r>
                        <a:rPr lang="en-US" sz="1600" dirty="0">
                          <a:latin typeface="Times New Roman" panose="02020603050405020304" pitchFamily="18" charset="0"/>
                          <a:cs typeface="Times New Roman" panose="02020603050405020304" pitchFamily="18" charset="0"/>
                        </a:rPr>
                        <a:t>2.</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CAT-Net: Compression Artifact Tracing Network for Detection and Localization of Image Splicing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Detecting and localizing image splicing has become essential to fight against malicious forgery</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Autoencoders,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Feature fusion</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2021</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WACV)</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M.J.; Yu, I.J.; Nam, S.H</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7575" y="463826"/>
          <a:ext cx="11949955" cy="5446645"/>
        </p:xfrm>
        <a:graphic>
          <a:graphicData uri="http://schemas.openxmlformats.org/drawingml/2006/table">
            <a:tbl>
              <a:tblPr firstRow="1" bandRow="1">
                <a:tableStyleId>{5C22544A-7EE6-4342-B048-85BDC9FD1C3A}</a:tableStyleId>
              </a:tblPr>
              <a:tblGrid>
                <a:gridCol w="691366">
                  <a:extLst>
                    <a:ext uri="{9D8B030D-6E8A-4147-A177-3AD203B41FA5}">
                      <a16:colId xmlns:a16="http://schemas.microsoft.com/office/drawing/2014/main" val="20000"/>
                    </a:ext>
                  </a:extLst>
                </a:gridCol>
                <a:gridCol w="2169546">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570922">
                  <a:extLst>
                    <a:ext uri="{9D8B030D-6E8A-4147-A177-3AD203B41FA5}">
                      <a16:colId xmlns:a16="http://schemas.microsoft.com/office/drawing/2014/main" val="20003"/>
                    </a:ext>
                  </a:extLst>
                </a:gridCol>
                <a:gridCol w="1917375">
                  <a:extLst>
                    <a:ext uri="{9D8B030D-6E8A-4147-A177-3AD203B41FA5}">
                      <a16:colId xmlns:a16="http://schemas.microsoft.com/office/drawing/2014/main" val="20004"/>
                    </a:ext>
                  </a:extLst>
                </a:gridCol>
                <a:gridCol w="2467146">
                  <a:extLst>
                    <a:ext uri="{9D8B030D-6E8A-4147-A177-3AD203B41FA5}">
                      <a16:colId xmlns:a16="http://schemas.microsoft.com/office/drawing/2014/main" val="20005"/>
                    </a:ext>
                  </a:extLst>
                </a:gridCol>
              </a:tblGrid>
              <a:tr h="978385">
                <a:tc>
                  <a:txBody>
                    <a:bodyPr/>
                    <a:lstStyle/>
                    <a:p>
                      <a:r>
                        <a:rPr lang="en-US" dirty="0" err="1"/>
                        <a:t>S.No</a:t>
                      </a:r>
                      <a:endParaRPr lang="en-US" dirty="0"/>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316419">
                <a:tc>
                  <a:txBody>
                    <a:bodyPr/>
                    <a:lstStyle/>
                    <a:p>
                      <a:pPr algn="ctr"/>
                      <a:r>
                        <a:rPr lang="en-US" sz="1600" dirty="0">
                          <a:latin typeface="Times New Roman" panose="02020603050405020304" pitchFamily="18" charset="0"/>
                          <a:cs typeface="Times New Roman" panose="02020603050405020304" pitchFamily="18" charset="0"/>
                        </a:rPr>
                        <a:t>3.</a:t>
                      </a:r>
                    </a:p>
                  </a:txBody>
                  <a:tcPr/>
                </a:tc>
                <a:tc>
                  <a:txBody>
                    <a:bodyPr/>
                    <a:lstStyle/>
                    <a:p>
                      <a:pPr algn="l"/>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ManTra</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-Net: Manipulation Tracing Network for Detection and Localization of Image Forgeries With Anomalous Features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To fight against real-life image forgery, which commonly involves different types and combined manipulations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Anomaly Detection, </a:t>
                      </a:r>
                    </a:p>
                    <a:p>
                      <a:pPr algn="l"/>
                      <a:r>
                        <a:rPr lang="en-US" sz="1600" dirty="0">
                          <a:latin typeface="Times New Roman" panose="02020603050405020304" pitchFamily="18" charset="0"/>
                          <a:cs typeface="Times New Roman" panose="02020603050405020304" pitchFamily="18" charset="0"/>
                        </a:rPr>
                        <a:t>Pixel-wise Classification</a:t>
                      </a:r>
                    </a:p>
                  </a:txBody>
                  <a:tcPr/>
                </a:tc>
                <a:tc>
                  <a:txBody>
                    <a:bodyPr/>
                    <a:lstStyle/>
                    <a:p>
                      <a:pPr algn="l"/>
                      <a:r>
                        <a:rPr lang="en-US" sz="1600" dirty="0">
                          <a:latin typeface="Times New Roman" panose="02020603050405020304" pitchFamily="18" charset="0"/>
                          <a:cs typeface="Times New Roman" panose="02020603050405020304" pitchFamily="18" charset="0"/>
                        </a:rPr>
                        <a:t>2019</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CVPR)</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Wu, Y.; Abd </a:t>
                      </a:r>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Almageed</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 W.; Natarajan, P</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151841">
                <a:tc>
                  <a:txBody>
                    <a:bodyPr/>
                    <a:lstStyle/>
                    <a:p>
                      <a:pPr algn="ctr"/>
                      <a:r>
                        <a:rPr lang="en-US" sz="1600" dirty="0">
                          <a:latin typeface="Times New Roman" panose="02020603050405020304" pitchFamily="18" charset="0"/>
                          <a:cs typeface="Times New Roman" panose="02020603050405020304" pitchFamily="18" charset="0"/>
                        </a:rPr>
                        <a:t>4.</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A survey on image tampering and its detection in real-world photos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survey provides an overview on typical image tampering types, released image tampering datasets and recent tampering detection approaches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5000"/>
                        </a:lnSpc>
                        <a:spcBef>
                          <a:spcPts val="0"/>
                        </a:spcBef>
                        <a:spcAft>
                          <a:spcPts val="1000"/>
                        </a:spcAft>
                        <a:buClrTx/>
                        <a:buSzTx/>
                        <a:buFontTx/>
                        <a:buNone/>
                        <a:defRPr/>
                      </a:pPr>
                      <a:r>
                        <a:rPr lang="en-US" sz="1600" dirty="0">
                          <a:latin typeface="Times New Roman" panose="02020603050405020304" pitchFamily="18" charset="0"/>
                          <a:cs typeface="Times New Roman" panose="02020603050405020304" pitchFamily="18" charset="0"/>
                        </a:rPr>
                        <a:t>Signal Processing Methods</a:t>
                      </a:r>
                      <a:r>
                        <a:rPr lang="en-US" sz="1600">
                          <a:latin typeface="Times New Roman" panose="02020603050405020304" pitchFamily="18" charset="0"/>
                          <a:cs typeface="Times New Roman" panose="02020603050405020304" pitchFamily="18" charset="0"/>
                        </a:rPr>
                        <a:t>, Image </a:t>
                      </a:r>
                      <a:r>
                        <a:rPr lang="en-US" sz="1600" dirty="0">
                          <a:latin typeface="Times New Roman" panose="02020603050405020304" pitchFamily="18" charset="0"/>
                          <a:cs typeface="Times New Roman" panose="02020603050405020304" pitchFamily="18" charset="0"/>
                        </a:rPr>
                        <a:t>Cloning and Morphing Detection</a:t>
                      </a:r>
                    </a:p>
                    <a:p>
                      <a:pPr algn="l">
                        <a:lnSpc>
                          <a:spcPct val="105000"/>
                        </a:lnSpc>
                        <a:spcAft>
                          <a:spcPts val="1000"/>
                        </a:spcAft>
                      </a:pPr>
                      <a:endPar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175" marR="1270" marT="97155" marB="3810"/>
                </a:tc>
                <a:tc>
                  <a:txBody>
                    <a:bodyPr/>
                    <a:lstStyle/>
                    <a:p>
                      <a:pPr algn="l"/>
                      <a:r>
                        <a:rPr lang="en-US" sz="1600" dirty="0">
                          <a:latin typeface="Times New Roman" panose="02020603050405020304" pitchFamily="18" charset="0"/>
                          <a:cs typeface="Times New Roman" panose="02020603050405020304" pitchFamily="18" charset="0"/>
                        </a:rPr>
                        <a:t>2019</a:t>
                      </a:r>
                    </a:p>
                    <a:p>
                      <a:pPr marL="0" marR="0" lvl="0" indent="0" algn="l" defTabSz="9144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Zheng, L.; Zhang, Y.; Thing, V.L</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US" sz="3200" b="1" dirty="0">
                <a:solidFill>
                  <a:srgbClr val="6666FF"/>
                </a:solidFill>
              </a:rPr>
              <a:t>MINIMUM SYSTEM REQUIREMENTS</a:t>
            </a:r>
            <a:endParaRPr lang="en-IN" sz="3200" b="1" dirty="0">
              <a:solidFill>
                <a:srgbClr val="6666FF"/>
              </a:solidFill>
            </a:endParaRPr>
          </a:p>
        </p:txBody>
      </p:sp>
      <p:sp>
        <p:nvSpPr>
          <p:cNvPr id="5" name="TextBox 4"/>
          <p:cNvSpPr txBox="1"/>
          <p:nvPr/>
        </p:nvSpPr>
        <p:spPr>
          <a:xfrm>
            <a:off x="928918" y="1640126"/>
            <a:ext cx="10305143" cy="5038367"/>
          </a:xfrm>
          <a:prstGeom prst="rect">
            <a:avLst/>
          </a:prstGeom>
          <a:noFill/>
        </p:spPr>
        <p:txBody>
          <a:bodyPr wrap="square" rtlCol="0">
            <a:spAutoFit/>
          </a:bodyPr>
          <a:lstStyle/>
          <a:p>
            <a:pPr>
              <a:lnSpc>
                <a:spcPct val="150000"/>
              </a:lnSpc>
            </a:pPr>
            <a:r>
              <a:rPr lang="en-GB" sz="2400" b="1" dirty="0">
                <a:solidFill>
                  <a:srgbClr val="FF0000"/>
                </a:solidFill>
              </a:rPr>
              <a:t>Software Requirements:</a:t>
            </a:r>
            <a:r>
              <a:rPr lang="en-GB" sz="2400" b="1" dirty="0"/>
              <a:t>							</a:t>
            </a:r>
            <a:endParaRPr lang="en-GB" dirty="0"/>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Server-side Script             	:   Python 3.6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IDE			               	:  VS code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Libraries Used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Numpy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IO, OS,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Keras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pandas,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tensorflow,Opencv</a:t>
            </a:r>
            <a:r>
              <a:rPr lang="en-GB" sz="2200" dirty="0"/>
              <a:t>                                         </a:t>
            </a:r>
            <a:endParaRPr lang="en-GB" dirty="0"/>
          </a:p>
          <a:p>
            <a:pPr>
              <a:lnSpc>
                <a:spcPct val="150000"/>
              </a:lnSpc>
            </a:pPr>
            <a:r>
              <a:rPr lang="en-GB" sz="2400" b="1" dirty="0">
                <a:solidFill>
                  <a:srgbClr val="FF0000"/>
                </a:solidFill>
              </a:rPr>
              <a:t>Hardware Requirements:</a:t>
            </a:r>
            <a:endParaRPr lang="en-GB" sz="2000" b="1" dirty="0"/>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Processor            	               :  I5/Intel Processor</a:t>
            </a:r>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RAM                                   :  8GB (min)</a:t>
            </a:r>
          </a:p>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Hard Disk                           :  128 GB</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359" y="2857500"/>
            <a:ext cx="8683348" cy="1143000"/>
          </a:xfrm>
        </p:spPr>
        <p:txBody>
          <a:bodyPr/>
          <a:lstStyle/>
          <a:p>
            <a:pPr marL="0" indent="0" algn="ctr">
              <a:buNone/>
            </a:pPr>
            <a:r>
              <a:rPr lang="en-IN" sz="5400" dirty="0">
                <a:solidFill>
                  <a:schemeClr val="tx2">
                    <a:lumMod val="60000"/>
                    <a:lumOff val="40000"/>
                  </a:schemeClr>
                </a:solidFill>
              </a:rPr>
              <a:t>ANALYSIS AND DESIGN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12114" y="91440"/>
            <a:ext cx="11967772" cy="6675120"/>
          </a:xfrm>
          <a:ln>
            <a:noFill/>
          </a:ln>
        </p:spPr>
        <p:txBody>
          <a:bodyPr>
            <a:normAutofit/>
          </a:bodyPr>
          <a:lstStyle/>
          <a:p>
            <a:pPr marL="45720" indent="0" algn="ctr">
              <a:buNone/>
            </a:pPr>
            <a:r>
              <a:rPr lang="en-IN" sz="3200" b="1" dirty="0">
                <a:solidFill>
                  <a:schemeClr val="accent1">
                    <a:lumMod val="75000"/>
                  </a:schemeClr>
                </a:solidFill>
                <a:latin typeface="Times New Roman" panose="02020603050405020304" pitchFamily="18" charset="0"/>
                <a:cs typeface="Times New Roman" panose="02020603050405020304" pitchFamily="18" charset="0"/>
              </a:rPr>
              <a:t>Analysis </a:t>
            </a:r>
          </a:p>
          <a:p>
            <a:pPr marL="45720" indent="0" algn="ctr">
              <a:buNone/>
            </a:pPr>
            <a:r>
              <a:rPr lang="en-IN" sz="2800" b="1"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 and User Modules</a:t>
            </a: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Content Placeholder 2"/>
          <p:cNvSpPr txBox="1"/>
          <p:nvPr/>
        </p:nvSpPr>
        <p:spPr>
          <a:xfrm>
            <a:off x="631723" y="1125614"/>
            <a:ext cx="10515600" cy="5640946"/>
          </a:xfrm>
          <a:prstGeom prst="rect">
            <a:avLst/>
          </a:prstGeom>
        </p:spPr>
        <p:txBody>
          <a:bodyPr>
            <a:normAutofit/>
          </a:bodyPr>
          <a:lst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a:lstStyle>
          <a:p>
            <a:pPr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User</a:t>
            </a:r>
            <a:r>
              <a:rPr lang="en-IN" sz="2000" dirty="0">
                <a:latin typeface="Times New Roman" panose="02020603050405020304" pitchFamily="18" charset="0"/>
                <a:cs typeface="Times New Roman" panose="02020603050405020304" pitchFamily="18" charset="0"/>
              </a:rPr>
              <a:t>: </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gathering: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anose="02040502050405020303" pitchFamily="18" charset="0"/>
              <a:buNone/>
            </a:pPr>
            <a:r>
              <a:rPr lang="en-IN" sz="2000" dirty="0">
                <a:latin typeface="Times New Roman" panose="02020603050405020304" pitchFamily="18" charset="0"/>
                <a:cs typeface="Times New Roman" panose="02020603050405020304" pitchFamily="18" charset="0"/>
              </a:rPr>
              <a:t>	Needs to gather the information or data from the open source, this will be use in the train the 	models.</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anose="02040502050405020303" pitchFamily="18" charset="0"/>
              <a:buNone/>
            </a:pPr>
            <a:r>
              <a:rPr lang="en-IN" sz="2000" dirty="0">
                <a:latin typeface="Times New Roman" panose="02020603050405020304" pitchFamily="18" charset="0"/>
                <a:cs typeface="Times New Roman" panose="02020603050405020304" pitchFamily="18" charset="0"/>
              </a:rPr>
              <a:t>	Data need to be pre-processed according the models it helps to increase the accuracy of the 	model and better information about the data.</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Feature Engineering: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anose="02040502050405020303" pitchFamily="18" charset="0"/>
              <a:buNone/>
            </a:pPr>
            <a:r>
              <a:rPr lang="en-IN" sz="2000" dirty="0">
                <a:latin typeface="Times New Roman" panose="02020603050405020304" pitchFamily="18" charset="0"/>
                <a:cs typeface="Times New Roman" panose="02020603050405020304" pitchFamily="18" charset="0"/>
              </a:rPr>
              <a:t>	In this step features are selected based on the priority of the column data, by this we can 	reduce the time investing on many columns.</a:t>
            </a:r>
          </a:p>
          <a:p>
            <a:pPr marL="0" indent="0" algn="just">
              <a:lnSpc>
                <a:spcPct val="150000"/>
              </a:lnSpc>
              <a:buFont typeface="Georgia" panose="02040502050405020303" pitchFamily="18" charset="0"/>
              <a:buNone/>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5662" y="784249"/>
            <a:ext cx="10560676" cy="5088573"/>
          </a:xfrm>
          <a:prstGeom prst="rect">
            <a:avLst/>
          </a:prstGeom>
        </p:spPr>
        <p:txBody>
          <a:bodyPr wrap="square">
            <a:spAutoFit/>
          </a:bodyPr>
          <a:lstStyle/>
          <a:p>
            <a:pPr marL="800100" lvl="1" indent="-342900">
              <a:lnSpc>
                <a:spcPct val="115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Model Building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To get the final result model building for the dataset is an important step. Based on the 	dataset we build the model for classification and regression. </a:t>
            </a: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View Results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User view’s the generated results from the model.</a:t>
            </a:r>
          </a:p>
          <a:p>
            <a:pPr marL="342900" lvl="0" indent="-342900">
              <a:lnSpc>
                <a:spcPct val="150000"/>
              </a:lnSpc>
              <a:spcAft>
                <a:spcPts val="1000"/>
              </a:spcAft>
              <a:buClr>
                <a:srgbClr val="000000"/>
              </a:buClr>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System:</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Model Checking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System checks model accuracy and it takes of the necessary for the model building</a:t>
            </a: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Generate Results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latin typeface="Times New Roman" panose="02020603050405020304" pitchFamily="18" charset="0"/>
                <a:ea typeface="Calibri" panose="020F0502020204030204" pitchFamily="34" charset="0"/>
              </a:rPr>
              <a:t>	System takes the input data from the users and produces the output</a:t>
            </a:r>
            <a:endParaRPr lang="en-I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59897" y="-103052"/>
            <a:ext cx="3872204" cy="584775"/>
          </a:xfrm>
          <a:prstGeom prst="rect">
            <a:avLst/>
          </a:prstGeom>
          <a:noFill/>
        </p:spPr>
        <p:txBody>
          <a:bodyPr wrap="square" rtlCol="0">
            <a:spAutoFit/>
          </a:bodyPr>
          <a:lstStyle/>
          <a:p>
            <a:pPr algn="ctr"/>
            <a:r>
              <a:rPr lang="en-US" sz="3200" b="1" dirty="0">
                <a:solidFill>
                  <a:schemeClr val="bg2">
                    <a:lumMod val="50000"/>
                  </a:schemeClr>
                </a:solidFill>
                <a:effectLst>
                  <a:outerShdw blurRad="38100" dist="38100" dir="2700000" algn="tl">
                    <a:srgbClr val="000000">
                      <a:alpha val="43137"/>
                    </a:srgbClr>
                  </a:outerShdw>
                </a:effectLst>
              </a:rPr>
              <a:t>DESIGN</a:t>
            </a:r>
            <a:endParaRPr lang="en-IN" sz="3200" b="1"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p14:cNvContentPartPr/>
                <p14:nvPr/>
              </p14:nvContentPartPr>
              <p14:xfrm>
                <a:off x="4771720" y="3554920"/>
                <a:ext cx="452880" cy="22320"/>
              </p14:xfrm>
            </p:contentPart>
          </mc:Choice>
          <mc:Fallback xmlns="">
            <p:pic>
              <p:nvPicPr>
                <p:cNvPr id="13" name="Ink 12"/>
              </p:nvPicPr>
              <p:blipFill>
                <a:blip r:embed="rId3"/>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14" name="Ink 13"/>
                <p14:cNvContentPartPr/>
                <p14:nvPr/>
              </p14:nvContentPartPr>
              <p14:xfrm>
                <a:off x="4556440" y="3571120"/>
                <a:ext cx="56520" cy="30600"/>
              </p14:xfrm>
            </p:contentPart>
          </mc:Choice>
          <mc:Fallback xmlns="">
            <p:pic>
              <p:nvPicPr>
                <p:cNvPr id="14" name="Ink 13"/>
              </p:nvPicPr>
              <p:blipFill>
                <a:blip r:embed="rId5"/>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4617640" y="3572920"/>
                <a:ext cx="72000" cy="18720"/>
              </p14:xfrm>
            </p:contentPart>
          </mc:Choice>
          <mc:Fallback xmlns="">
            <p:pic>
              <p:nvPicPr>
                <p:cNvPr id="15" name="Ink 14"/>
              </p:nvPicPr>
              <p:blipFill>
                <a:blip r:embed="rId7"/>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p14:cNvContentPartPr/>
              <p14:nvPr/>
            </p14:nvContentPartPr>
            <p14:xfrm>
              <a:off x="6012060" y="1935300"/>
              <a:ext cx="360" cy="360"/>
            </p14:xfrm>
          </p:contentPart>
        </mc:Choice>
        <mc:Fallback xmlns="">
          <p:pic>
            <p:nvPicPr>
              <p:cNvPr id="17" name="Ink 16"/>
            </p:nvPicPr>
            <p:blipFill>
              <a:blip r:embed="rId9"/>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p:cNvSpPr txBox="1"/>
          <p:nvPr/>
        </p:nvSpPr>
        <p:spPr>
          <a:xfrm>
            <a:off x="3963173" y="443435"/>
            <a:ext cx="4481029" cy="400110"/>
          </a:xfrm>
          <a:prstGeom prst="rect">
            <a:avLst/>
          </a:prstGeom>
          <a:noFill/>
        </p:spPr>
        <p:txBody>
          <a:bodyPr wrap="square" rtlCol="0">
            <a:spAutoFit/>
          </a:bodyPr>
          <a:lstStyle/>
          <a:p>
            <a:pPr algn="ctr"/>
            <a:r>
              <a:rPr lang="en-US" sz="2000" b="1" dirty="0"/>
              <a:t> Data Flow Diagram </a:t>
            </a:r>
            <a:endParaRPr lang="en-IN" sz="2000" b="1" dirty="0"/>
          </a:p>
        </p:txBody>
      </p:sp>
      <p:pic>
        <p:nvPicPr>
          <p:cNvPr id="6" name="Picture 5"/>
          <p:cNvPicPr>
            <a:picLocks noChangeAspect="1"/>
          </p:cNvPicPr>
          <p:nvPr/>
        </p:nvPicPr>
        <p:blipFill>
          <a:blip r:embed="rId10"/>
          <a:stretch>
            <a:fillRect/>
          </a:stretch>
        </p:blipFill>
        <p:spPr>
          <a:xfrm>
            <a:off x="2994992" y="843545"/>
            <a:ext cx="6149008" cy="60144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66251" y="1295993"/>
            <a:ext cx="6174658" cy="5368807"/>
          </a:xfrm>
          <a:prstGeom prst="rect">
            <a:avLst/>
          </a:prstGeom>
        </p:spPr>
      </p:pic>
      <p:sp>
        <p:nvSpPr>
          <p:cNvPr id="6" name="TextBox 5"/>
          <p:cNvSpPr txBox="1"/>
          <p:nvPr/>
        </p:nvSpPr>
        <p:spPr>
          <a:xfrm>
            <a:off x="2866251" y="332387"/>
            <a:ext cx="6324401" cy="369332"/>
          </a:xfrm>
          <a:prstGeom prst="rect">
            <a:avLst/>
          </a:prstGeom>
          <a:noFill/>
        </p:spPr>
        <p:txBody>
          <a:bodyPr wrap="square">
            <a:spAutoFit/>
          </a:bodyPr>
          <a:lstStyle/>
          <a:p>
            <a:pPr algn="ctr"/>
            <a:r>
              <a:rPr lang="en-US" sz="1800" b="1" dirty="0">
                <a:solidFill>
                  <a:schemeClr val="bg2">
                    <a:lumMod val="50000"/>
                  </a:schemeClr>
                </a:solidFill>
                <a:effectLst>
                  <a:outerShdw blurRad="38100" dist="38100" dir="2700000" algn="tl">
                    <a:srgbClr val="000000">
                      <a:alpha val="43137"/>
                    </a:srgbClr>
                  </a:outerShdw>
                </a:effectLst>
              </a:rPr>
              <a:t>UML DIAGRAMS</a:t>
            </a:r>
            <a:endParaRPr lang="en-IN" sz="1800" dirty="0"/>
          </a:p>
        </p:txBody>
      </p:sp>
      <p:sp>
        <p:nvSpPr>
          <p:cNvPr id="8" name="TextBox 7"/>
          <p:cNvSpPr txBox="1"/>
          <p:nvPr/>
        </p:nvSpPr>
        <p:spPr>
          <a:xfrm>
            <a:off x="2931567" y="814190"/>
            <a:ext cx="6097554" cy="369332"/>
          </a:xfrm>
          <a:prstGeom prst="rect">
            <a:avLst/>
          </a:prstGeom>
          <a:noFill/>
        </p:spPr>
        <p:txBody>
          <a:bodyPr wrap="square">
            <a:spAutoFit/>
          </a:bodyPr>
          <a:lstStyle/>
          <a:p>
            <a:pPr algn="ctr"/>
            <a:r>
              <a:rPr lang="en-US" sz="1800" b="1" dirty="0"/>
              <a:t>USE CASE DIAGRAM</a:t>
            </a:r>
            <a:endParaRPr lang="en-IN" sz="18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p14:cNvContentPartPr/>
                <p14:nvPr/>
              </p14:nvContentPartPr>
              <p14:xfrm>
                <a:off x="4771720" y="3554920"/>
                <a:ext cx="452880" cy="22320"/>
              </p14:xfrm>
            </p:contentPart>
          </mc:Choice>
          <mc:Fallback xmlns="">
            <p:pic>
              <p:nvPicPr>
                <p:cNvPr id="13" name="Ink 12"/>
              </p:nvPicPr>
              <p:blipFill>
                <a:blip r:embed="rId3"/>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14" name="Ink 13"/>
                <p14:cNvContentPartPr/>
                <p14:nvPr/>
              </p14:nvContentPartPr>
              <p14:xfrm>
                <a:off x="4556440" y="3571120"/>
                <a:ext cx="56520" cy="30600"/>
              </p14:xfrm>
            </p:contentPart>
          </mc:Choice>
          <mc:Fallback xmlns="">
            <p:pic>
              <p:nvPicPr>
                <p:cNvPr id="14" name="Ink 13"/>
              </p:nvPicPr>
              <p:blipFill>
                <a:blip r:embed="rId5"/>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4617640" y="3572920"/>
                <a:ext cx="72000" cy="18720"/>
              </p14:xfrm>
            </p:contentPart>
          </mc:Choice>
          <mc:Fallback xmlns="">
            <p:pic>
              <p:nvPicPr>
                <p:cNvPr id="15" name="Ink 14"/>
              </p:nvPicPr>
              <p:blipFill>
                <a:blip r:embed="rId7"/>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p14:cNvContentPartPr/>
              <p14:nvPr/>
            </p14:nvContentPartPr>
            <p14:xfrm>
              <a:off x="6012060" y="1935300"/>
              <a:ext cx="360" cy="360"/>
            </p14:xfrm>
          </p:contentPart>
        </mc:Choice>
        <mc:Fallback xmlns="">
          <p:pic>
            <p:nvPicPr>
              <p:cNvPr id="17" name="Ink 16"/>
            </p:nvPicPr>
            <p:blipFill>
              <a:blip r:embed="rId9"/>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771545" y="87208"/>
            <a:ext cx="4481029" cy="523220"/>
          </a:xfrm>
          <a:prstGeom prst="rect">
            <a:avLst/>
          </a:prstGeom>
          <a:noFill/>
          <a:ln>
            <a:noFill/>
          </a:ln>
        </p:spPr>
        <p:txBody>
          <a:bodyPr wrap="square" rtlCol="0">
            <a:spAutoFit/>
          </a:bodyPr>
          <a:lstStyle/>
          <a:p>
            <a:pPr algn="ctr"/>
            <a:r>
              <a:rPr lang="en-US" sz="2800" dirty="0"/>
              <a:t>SEQUENCE DIAGRAM</a:t>
            </a:r>
            <a:endParaRPr lang="en-IN" sz="2800" dirty="0"/>
          </a:p>
        </p:txBody>
      </p:sp>
      <p:pic>
        <p:nvPicPr>
          <p:cNvPr id="2" name="Picture 1"/>
          <p:cNvPicPr>
            <a:picLocks noChangeAspect="1"/>
          </p:cNvPicPr>
          <p:nvPr/>
        </p:nvPicPr>
        <p:blipFill>
          <a:blip r:embed="rId10"/>
          <a:stretch>
            <a:fillRect/>
          </a:stretch>
        </p:blipFill>
        <p:spPr>
          <a:xfrm>
            <a:off x="2576052" y="1011308"/>
            <a:ext cx="6066503" cy="53482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p14:cNvContentPartPr/>
                <p14:nvPr/>
              </p14:nvContentPartPr>
              <p14:xfrm>
                <a:off x="4771720" y="3554920"/>
                <a:ext cx="452880" cy="22320"/>
              </p14:xfrm>
            </p:contentPart>
          </mc:Choice>
          <mc:Fallback xmlns="">
            <p:pic>
              <p:nvPicPr>
                <p:cNvPr id="13" name="Ink 12"/>
              </p:nvPicPr>
              <p:blipFill>
                <a:blip r:embed="rId3"/>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14" name="Ink 13"/>
                <p14:cNvContentPartPr/>
                <p14:nvPr/>
              </p14:nvContentPartPr>
              <p14:xfrm>
                <a:off x="4556440" y="3571120"/>
                <a:ext cx="56520" cy="30600"/>
              </p14:xfrm>
            </p:contentPart>
          </mc:Choice>
          <mc:Fallback xmlns="">
            <p:pic>
              <p:nvPicPr>
                <p:cNvPr id="14" name="Ink 13"/>
              </p:nvPicPr>
              <p:blipFill>
                <a:blip r:embed="rId5"/>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4617640" y="3572920"/>
                <a:ext cx="72000" cy="18720"/>
              </p14:xfrm>
            </p:contentPart>
          </mc:Choice>
          <mc:Fallback xmlns="">
            <p:pic>
              <p:nvPicPr>
                <p:cNvPr id="15" name="Ink 14"/>
              </p:nvPicPr>
              <p:blipFill>
                <a:blip r:embed="rId7"/>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p14:cNvContentPartPr/>
              <p14:nvPr/>
            </p14:nvContentPartPr>
            <p14:xfrm>
              <a:off x="6012060" y="1935300"/>
              <a:ext cx="360" cy="360"/>
            </p14:xfrm>
          </p:contentPart>
        </mc:Choice>
        <mc:Fallback xmlns="">
          <p:pic>
            <p:nvPicPr>
              <p:cNvPr id="17" name="Ink 16"/>
            </p:nvPicPr>
            <p:blipFill>
              <a:blip r:embed="rId9"/>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p:cNvSpPr txBox="1"/>
          <p:nvPr/>
        </p:nvSpPr>
        <p:spPr>
          <a:xfrm>
            <a:off x="3047223" y="325639"/>
            <a:ext cx="6097554" cy="523220"/>
          </a:xfrm>
          <a:prstGeom prst="rect">
            <a:avLst/>
          </a:prstGeom>
          <a:noFill/>
          <a:ln>
            <a:noFill/>
          </a:ln>
        </p:spPr>
        <p:txBody>
          <a:bodyPr wrap="square">
            <a:spAutoFit/>
          </a:bodyPr>
          <a:lstStyle/>
          <a:p>
            <a:pPr algn="ctr"/>
            <a:r>
              <a:rPr lang="en-IN" sz="2800" b="1" dirty="0"/>
              <a:t>CLASS DIAGRAM</a:t>
            </a:r>
          </a:p>
        </p:txBody>
      </p:sp>
      <p:pic>
        <p:nvPicPr>
          <p:cNvPr id="2" name="Picture 1"/>
          <p:cNvPicPr>
            <a:picLocks noChangeAspect="1"/>
          </p:cNvPicPr>
          <p:nvPr/>
        </p:nvPicPr>
        <p:blipFill>
          <a:blip r:embed="rId10"/>
          <a:stretch>
            <a:fillRect/>
          </a:stretch>
        </p:blipFill>
        <p:spPr>
          <a:xfrm>
            <a:off x="1366684" y="1661652"/>
            <a:ext cx="8603226" cy="43785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112392"/>
            <a:ext cx="6097554" cy="523220"/>
          </a:xfrm>
          <a:prstGeom prst="rect">
            <a:avLst/>
          </a:prstGeom>
          <a:noFill/>
          <a:ln>
            <a:noFill/>
          </a:ln>
        </p:spPr>
        <p:txBody>
          <a:bodyPr wrap="square">
            <a:spAutoFit/>
          </a:bodyPr>
          <a:lstStyle/>
          <a:p>
            <a:pPr marL="0" algn="ctr" rtl="0" eaLnBrk="1" latinLnBrk="0" hangingPunct="1">
              <a:spcBef>
                <a:spcPts val="0"/>
              </a:spcBef>
              <a:spcAft>
                <a:spcPts val="0"/>
              </a:spcAft>
            </a:pPr>
            <a:r>
              <a:rPr lang="en-IN" sz="2800" kern="1200" dirty="0">
                <a:solidFill>
                  <a:srgbClr val="000000"/>
                </a:solidFill>
                <a:effectLst/>
                <a:latin typeface="Trebuchet MS" panose="020B0603020202020204" charset="0"/>
                <a:ea typeface="+mn-ea"/>
                <a:cs typeface="+mn-cs"/>
              </a:rPr>
              <a:t>COLLABORATION DIAGRAM</a:t>
            </a:r>
            <a:endParaRPr lang="en-IN" sz="2800" dirty="0">
              <a:effectLst/>
            </a:endParaRPr>
          </a:p>
        </p:txBody>
      </p:sp>
      <p:pic>
        <p:nvPicPr>
          <p:cNvPr id="4" name="Picture 3"/>
          <p:cNvPicPr>
            <a:picLocks noChangeAspect="1"/>
          </p:cNvPicPr>
          <p:nvPr/>
        </p:nvPicPr>
        <p:blipFill>
          <a:blip r:embed="rId2"/>
          <a:stretch>
            <a:fillRect/>
          </a:stretch>
        </p:blipFill>
        <p:spPr>
          <a:xfrm>
            <a:off x="1746811" y="1437899"/>
            <a:ext cx="8698378" cy="398220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323351"/>
            <a:ext cx="6097554" cy="523220"/>
          </a:xfrm>
          <a:prstGeom prst="rect">
            <a:avLst/>
          </a:prstGeom>
          <a:noFill/>
          <a:ln>
            <a:noFill/>
          </a:ln>
        </p:spPr>
        <p:txBody>
          <a:bodyPr wrap="square">
            <a:spAutoFit/>
          </a:bodyPr>
          <a:lstStyle/>
          <a:p>
            <a:pPr algn="ctr"/>
            <a:r>
              <a:rPr lang="en-IN" sz="2800" dirty="0"/>
              <a:t>DEPLOYMENT DIAGRAM</a:t>
            </a:r>
          </a:p>
        </p:txBody>
      </p:sp>
      <p:pic>
        <p:nvPicPr>
          <p:cNvPr id="5" name="Picture 4"/>
          <p:cNvPicPr>
            <a:picLocks noChangeAspect="1"/>
          </p:cNvPicPr>
          <p:nvPr/>
        </p:nvPicPr>
        <p:blipFill>
          <a:blip r:embed="rId2"/>
          <a:stretch>
            <a:fillRect/>
          </a:stretch>
        </p:blipFill>
        <p:spPr>
          <a:xfrm>
            <a:off x="1805133" y="1409310"/>
            <a:ext cx="8581734" cy="44596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11678" y="826207"/>
            <a:ext cx="4768644" cy="5933375"/>
          </a:xfrm>
          <a:prstGeom prst="rect">
            <a:avLst/>
          </a:prstGeom>
        </p:spPr>
      </p:pic>
      <p:sp>
        <p:nvSpPr>
          <p:cNvPr id="3" name="TextBox 4"/>
          <p:cNvSpPr txBox="1"/>
          <p:nvPr/>
        </p:nvSpPr>
        <p:spPr>
          <a:xfrm>
            <a:off x="2897934" y="201054"/>
            <a:ext cx="6097554" cy="523220"/>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800" b="1" dirty="0"/>
              <a:t>ACTIVITY DIAGRAM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814732" y="2509520"/>
            <a:ext cx="8159262" cy="1180465"/>
          </a:xfrm>
          <a:prstGeom prst="rect">
            <a:avLst/>
          </a:prstGeom>
          <a:noFill/>
        </p:spPr>
        <p:txBody>
          <a:bodyPr wrap="square" rtlCol="0" anchor="t">
            <a:noAutofit/>
          </a:bodyPr>
          <a:lstStyle/>
          <a:p>
            <a:pPr algn="ctr"/>
            <a:r>
              <a:rPr lang="en-IN" altLang="en-US" sz="2800" b="1" dirty="0">
                <a:solidFill>
                  <a:schemeClr val="accent2">
                    <a:lumMod val="75000"/>
                  </a:schemeClr>
                </a:solidFill>
                <a:latin typeface="Times New Roman" panose="02020603050405020304" pitchFamily="18" charset="0"/>
                <a:cs typeface="Times New Roman" panose="02020603050405020304" pitchFamily="18" charset="0"/>
                <a:sym typeface="+mn-ea"/>
              </a:rPr>
              <a:t>           </a:t>
            </a:r>
            <a:r>
              <a:rPr lang="en-IN" altLang="en-US" sz="3600" b="1" dirty="0">
                <a:solidFill>
                  <a:schemeClr val="bg2">
                    <a:lumMod val="50000"/>
                  </a:schemeClr>
                </a:solidFill>
                <a:latin typeface="Times New Roman" panose="02020603050405020304" pitchFamily="18" charset="0"/>
                <a:cs typeface="Times New Roman" panose="02020603050405020304" pitchFamily="18" charset="0"/>
                <a:sym typeface="+mn-ea"/>
              </a:rPr>
              <a:t> </a:t>
            </a:r>
            <a:r>
              <a:rPr lang="en-US" sz="3600" b="1" dirty="0">
                <a:solidFill>
                  <a:schemeClr val="bg2">
                    <a:lumMod val="50000"/>
                  </a:schemeClr>
                </a:solidFill>
                <a:latin typeface="Times New Roman" panose="02020603050405020304" pitchFamily="18" charset="0"/>
                <a:cs typeface="Times New Roman" panose="02020603050405020304" pitchFamily="18" charset="0"/>
                <a:sym typeface="+mn-ea"/>
              </a:rPr>
              <a:t>IMPLEMENTATION, TESTING &amp; RESULTS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51815" y="-1"/>
            <a:ext cx="11308080" cy="6541477"/>
          </a:xfrm>
          <a:prstGeom prst="rect">
            <a:avLst/>
          </a:prstGeom>
        </p:spPr>
        <p:txBody>
          <a:bodyPr>
            <a:noAutofit/>
          </a:bodyPr>
          <a:lstStyle/>
          <a:p>
            <a:pPr>
              <a:spcAft>
                <a:spcPct val="60000"/>
              </a:spcAft>
            </a:pPr>
            <a:r>
              <a:rPr sz="2400" b="1" u="sng" dirty="0">
                <a:solidFill>
                  <a:schemeClr val="accent1"/>
                </a:solidFill>
                <a:latin typeface="Times New Roman" panose="02020603050405020304" pitchFamily="18" charset="0"/>
                <a:cs typeface="Times New Roman" panose="02020603050405020304" pitchFamily="18" charset="0"/>
              </a:rPr>
              <a:t>OpenCV</a:t>
            </a:r>
            <a:r>
              <a:rPr lang="en-US" sz="2400" b="1" u="sng" dirty="0">
                <a:solidFill>
                  <a:schemeClr val="accent1"/>
                </a:solidFill>
                <a:latin typeface="Times New Roman" panose="02020603050405020304" pitchFamily="18" charset="0"/>
                <a:cs typeface="Times New Roman" panose="02020603050405020304" pitchFamily="18" charset="0"/>
              </a:rPr>
              <a:t>:</a:t>
            </a:r>
            <a:r>
              <a:rPr sz="2400" b="1" u="sng" dirty="0">
                <a:solidFill>
                  <a:schemeClr val="accent1"/>
                </a:solidFill>
                <a:latin typeface="Times New Roman" panose="02020603050405020304" pitchFamily="18" charset="0"/>
                <a:cs typeface="Times New Roman" panose="02020603050405020304" pitchFamily="18" charset="0"/>
              </a:rPr>
              <a:t> </a:t>
            </a:r>
          </a:p>
          <a:p>
            <a:pPr>
              <a:spcAft>
                <a:spcPct val="60000"/>
              </a:spcAft>
            </a:pPr>
            <a:r>
              <a:rPr sz="2000" b="1" dirty="0">
                <a:latin typeface="Times New Roman" panose="02020603050405020304" pitchFamily="18" charset="0"/>
                <a:cs typeface="Times New Roman" panose="02020603050405020304" pitchFamily="18" charset="0"/>
              </a:rPr>
              <a:t>Working Process:</a:t>
            </a:r>
          </a:p>
          <a:p>
            <a:pPr>
              <a:buAutoNum type="arabicPeriod"/>
            </a:pPr>
            <a:r>
              <a:rPr dirty="0">
                <a:latin typeface="Times New Roman" panose="02020603050405020304" pitchFamily="18" charset="0"/>
                <a:cs typeface="Times New Roman" panose="02020603050405020304" pitchFamily="18" charset="0"/>
              </a:rPr>
              <a:t>Read the Image: Load the image using OpenCV (cv2.imread()).</a:t>
            </a:r>
          </a:p>
          <a:p>
            <a:pPr>
              <a:buAutoNum type="arabicPeriod"/>
            </a:pPr>
            <a:r>
              <a:rPr dirty="0">
                <a:latin typeface="Times New Roman" panose="02020603050405020304" pitchFamily="18" charset="0"/>
                <a:cs typeface="Times New Roman" panose="02020603050405020304" pitchFamily="18" charset="0"/>
              </a:rPr>
              <a:t>Convert to Grayscale: Convert the image to grayscale for better processing.</a:t>
            </a:r>
          </a:p>
          <a:p>
            <a:pPr>
              <a:buAutoNum type="arabicPeriod"/>
            </a:pPr>
            <a:r>
              <a:rPr dirty="0">
                <a:latin typeface="Times New Roman" panose="02020603050405020304" pitchFamily="18" charset="0"/>
                <a:cs typeface="Times New Roman" panose="02020603050405020304" pitchFamily="18" charset="0"/>
              </a:rPr>
              <a:t>Edge Detection: Use Canny edge detection to highlight important features.</a:t>
            </a:r>
          </a:p>
          <a:p>
            <a:pPr>
              <a:buAutoNum type="arabicPeriod"/>
            </a:pPr>
            <a:r>
              <a:rPr dirty="0">
                <a:latin typeface="Times New Roman" panose="02020603050405020304" pitchFamily="18" charset="0"/>
                <a:cs typeface="Times New Roman" panose="02020603050405020304" pitchFamily="18" charset="0"/>
              </a:rPr>
              <a:t>Feature Extraction:</a:t>
            </a:r>
          </a:p>
          <a:p>
            <a:pPr lvl="1">
              <a:buFont typeface="Arial" panose="020B0604020202020204"/>
              <a:buChar char="◦"/>
            </a:pPr>
            <a:r>
              <a:rPr dirty="0">
                <a:latin typeface="Times New Roman" panose="02020603050405020304" pitchFamily="18" charset="0"/>
                <a:cs typeface="Times New Roman" panose="02020603050405020304" pitchFamily="18" charset="0"/>
              </a:rPr>
              <a:t>Detect </a:t>
            </a:r>
            <a:r>
              <a:rPr dirty="0" err="1">
                <a:latin typeface="Times New Roman" panose="02020603050405020304" pitchFamily="18" charset="0"/>
                <a:cs typeface="Times New Roman" panose="02020603050405020304" pitchFamily="18" charset="0"/>
              </a:rPr>
              <a:t>keypoints</a:t>
            </a:r>
            <a:r>
              <a:rPr dirty="0">
                <a:latin typeface="Times New Roman" panose="02020603050405020304" pitchFamily="18" charset="0"/>
                <a:cs typeface="Times New Roman" panose="02020603050405020304" pitchFamily="18" charset="0"/>
              </a:rPr>
              <a:t> and extract features using SIFT or ORB.</a:t>
            </a:r>
          </a:p>
          <a:p>
            <a:pPr lvl="1">
              <a:buFont typeface="Arial" panose="020B0604020202020204"/>
              <a:buChar char="◦"/>
            </a:pPr>
            <a:r>
              <a:rPr dirty="0">
                <a:latin typeface="Times New Roman" panose="02020603050405020304" pitchFamily="18" charset="0"/>
                <a:cs typeface="Times New Roman" panose="02020603050405020304" pitchFamily="18" charset="0"/>
              </a:rPr>
              <a:t>These features help in identifying tampered areas.</a:t>
            </a:r>
          </a:p>
          <a:p>
            <a:pPr>
              <a:buAutoNum type="arabicPeriod"/>
            </a:pPr>
            <a:r>
              <a:rPr dirty="0">
                <a:latin typeface="Times New Roman" panose="02020603050405020304" pitchFamily="18" charset="0"/>
                <a:cs typeface="Times New Roman" panose="02020603050405020304" pitchFamily="18" charset="0"/>
              </a:rPr>
              <a:t>Feature Matching:</a:t>
            </a:r>
          </a:p>
          <a:p>
            <a:pPr lvl="1">
              <a:buFont typeface="Arial" panose="020B0604020202020204"/>
              <a:buChar char="◦"/>
            </a:pPr>
            <a:r>
              <a:rPr dirty="0">
                <a:latin typeface="Times New Roman" panose="02020603050405020304" pitchFamily="18" charset="0"/>
                <a:cs typeface="Times New Roman" panose="02020603050405020304" pitchFamily="18" charset="0"/>
              </a:rPr>
              <a:t>Compare the input image with another image using FLANN or Brute-Force Matcher.</a:t>
            </a:r>
          </a:p>
          <a:p>
            <a:pPr lvl="1">
              <a:buFont typeface="Arial" panose="020B0604020202020204"/>
              <a:buChar char="◦"/>
            </a:pPr>
            <a:r>
              <a:rPr dirty="0">
                <a:latin typeface="Times New Roman" panose="02020603050405020304" pitchFamily="18" charset="0"/>
                <a:cs typeface="Times New Roman" panose="02020603050405020304" pitchFamily="18" charset="0"/>
              </a:rPr>
              <a:t>If there are differences in </a:t>
            </a:r>
            <a:r>
              <a:rPr dirty="0" err="1">
                <a:latin typeface="Times New Roman" panose="02020603050405020304" pitchFamily="18" charset="0"/>
                <a:cs typeface="Times New Roman" panose="02020603050405020304" pitchFamily="18" charset="0"/>
              </a:rPr>
              <a:t>keypoints</a:t>
            </a:r>
            <a:r>
              <a:rPr dirty="0">
                <a:latin typeface="Times New Roman" panose="02020603050405020304" pitchFamily="18" charset="0"/>
                <a:cs typeface="Times New Roman" panose="02020603050405020304" pitchFamily="18" charset="0"/>
              </a:rPr>
              <a:t>, the image is forged.</a:t>
            </a:r>
          </a:p>
          <a:p>
            <a:pPr>
              <a:spcAft>
                <a:spcPct val="60000"/>
              </a:spcAft>
            </a:pPr>
            <a:r>
              <a:rPr sz="2000" b="1" dirty="0">
                <a:latin typeface="Times New Roman" panose="02020603050405020304" pitchFamily="18" charset="0"/>
                <a:cs typeface="Times New Roman" panose="02020603050405020304" pitchFamily="18" charset="0"/>
              </a:rPr>
              <a:t>Output:</a:t>
            </a:r>
          </a:p>
          <a:p>
            <a:pPr>
              <a:buFont typeface="Arial" panose="020B0604020202020204"/>
              <a:buChar char="•"/>
            </a:pPr>
            <a:r>
              <a:rPr dirty="0">
                <a:latin typeface="Times New Roman" panose="02020603050405020304" pitchFamily="18" charset="0"/>
                <a:cs typeface="Times New Roman" panose="02020603050405020304" pitchFamily="18" charset="0"/>
              </a:rPr>
              <a:t>If tampering is detected, the system highlights forged regions using bounding boxes.</a:t>
            </a:r>
          </a:p>
          <a:p>
            <a:pPr>
              <a:buFont typeface="Arial" panose="020B0604020202020204"/>
              <a:buChar char="•"/>
            </a:pPr>
            <a:r>
              <a:rPr dirty="0" err="1">
                <a:latin typeface="Times New Roman" panose="02020603050405020304" pitchFamily="18" charset="0"/>
                <a:cs typeface="Times New Roman" panose="02020603050405020304" pitchFamily="18" charset="0"/>
              </a:rPr>
              <a:t>Keypoints</a:t>
            </a:r>
            <a:r>
              <a:rPr dirty="0">
                <a:latin typeface="Times New Roman" panose="02020603050405020304" pitchFamily="18" charset="0"/>
                <a:cs typeface="Times New Roman" panose="02020603050405020304" pitchFamily="18" charset="0"/>
              </a:rPr>
              <a:t> are displayed to show differences between original and manipulated images.</a:t>
            </a:r>
          </a:p>
          <a:p>
            <a:pPr>
              <a:spcAft>
                <a:spcPct val="60000"/>
              </a:spcAft>
            </a:pPr>
            <a:r>
              <a:rPr sz="2000" b="1" dirty="0">
                <a:latin typeface="Times New Roman" panose="02020603050405020304" pitchFamily="18" charset="0"/>
                <a:cs typeface="Times New Roman" panose="02020603050405020304" pitchFamily="18" charset="0"/>
              </a:rPr>
              <a:t>Training:</a:t>
            </a:r>
          </a:p>
          <a:p>
            <a:pPr>
              <a:buFont typeface="Arial" panose="020B0604020202020204"/>
              <a:buChar char="•"/>
            </a:pPr>
            <a:r>
              <a:rPr dirty="0">
                <a:latin typeface="Times New Roman" panose="02020603050405020304" pitchFamily="18" charset="0"/>
                <a:cs typeface="Times New Roman" panose="02020603050405020304" pitchFamily="18" charset="0"/>
              </a:rPr>
              <a:t>Different types of forged images (copy-move, splicing, etc.) are used for testing.</a:t>
            </a:r>
          </a:p>
          <a:p>
            <a:pPr>
              <a:buFont typeface="Arial" panose="020B0604020202020204"/>
              <a:buChar char="•"/>
            </a:pPr>
            <a:r>
              <a:rPr dirty="0">
                <a:latin typeface="Times New Roman" panose="02020603050405020304" pitchFamily="18" charset="0"/>
                <a:cs typeface="Times New Roman" panose="02020603050405020304" pitchFamily="18" charset="0"/>
              </a:rPr>
              <a:t>OpenCV feature extraction methods are adjusted to improve detection accuracy.</a:t>
            </a:r>
          </a:p>
          <a:p>
            <a:pPr>
              <a:buFont typeface="Arial" panose="020B0604020202020204"/>
              <a:buChar char="•"/>
            </a:pPr>
            <a:r>
              <a:rPr dirty="0">
                <a:latin typeface="Times New Roman" panose="02020603050405020304" pitchFamily="18" charset="0"/>
                <a:cs typeface="Times New Roman" panose="02020603050405020304" pitchFamily="18" charset="0"/>
              </a:rPr>
              <a:t>Threshold values in feature matching are fine-tuned to reduce false detections.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81355" y="325120"/>
            <a:ext cx="10596880" cy="6949440"/>
          </a:xfrm>
          <a:prstGeom prst="rect">
            <a:avLst/>
          </a:prstGeom>
        </p:spPr>
        <p:txBody>
          <a:bodyPr>
            <a:noAutofit/>
          </a:bodyPr>
          <a:lstStyle/>
          <a:p>
            <a:pPr>
              <a:spcAft>
                <a:spcPct val="60000"/>
              </a:spcAft>
            </a:pPr>
            <a:r>
              <a:rPr sz="2800" b="1" u="sng" dirty="0">
                <a:solidFill>
                  <a:schemeClr val="accent1"/>
                </a:solidFill>
                <a:latin typeface="Times New Roman" panose="02020603050405020304" pitchFamily="18" charset="0"/>
                <a:cs typeface="Times New Roman" panose="02020603050405020304" pitchFamily="18" charset="0"/>
              </a:rPr>
              <a:t>MD5 Hashing</a:t>
            </a:r>
            <a:r>
              <a:rPr lang="en-US" sz="2800" b="1" u="sng" dirty="0">
                <a:solidFill>
                  <a:schemeClr val="accent1"/>
                </a:solidFill>
                <a:latin typeface="Times New Roman" panose="02020603050405020304" pitchFamily="18" charset="0"/>
                <a:cs typeface="Times New Roman" panose="02020603050405020304" pitchFamily="18" charset="0"/>
              </a:rPr>
              <a:t>:</a:t>
            </a:r>
            <a:r>
              <a:rPr sz="2800" b="1" u="sng" dirty="0">
                <a:solidFill>
                  <a:schemeClr val="accent1"/>
                </a:solidFill>
                <a:latin typeface="Times New Roman" panose="02020603050405020304" pitchFamily="18" charset="0"/>
                <a:cs typeface="Times New Roman" panose="02020603050405020304" pitchFamily="18" charset="0"/>
              </a:rPr>
              <a:t> </a:t>
            </a:r>
          </a:p>
          <a:p>
            <a:pPr>
              <a:spcAft>
                <a:spcPct val="60000"/>
              </a:spcAft>
            </a:pPr>
            <a:r>
              <a:rPr sz="2000" b="1" dirty="0">
                <a:latin typeface="Times New Roman" panose="02020603050405020304" pitchFamily="18" charset="0"/>
                <a:cs typeface="Times New Roman" panose="02020603050405020304" pitchFamily="18" charset="0"/>
              </a:rPr>
              <a:t>Working Process</a:t>
            </a:r>
            <a:r>
              <a:rPr sz="2400" b="1" dirty="0">
                <a:latin typeface="Times New Roman" panose="02020603050405020304" pitchFamily="18" charset="0"/>
                <a:cs typeface="Times New Roman" panose="02020603050405020304" pitchFamily="18" charset="0"/>
              </a:rPr>
              <a:t>:</a:t>
            </a:r>
          </a:p>
          <a:p>
            <a:pPr>
              <a:buAutoNum type="arabicPeriod"/>
            </a:pPr>
            <a:r>
              <a:rPr sz="2000" dirty="0">
                <a:latin typeface="Times New Roman" panose="02020603050405020304" pitchFamily="18" charset="0"/>
                <a:cs typeface="Times New Roman" panose="02020603050405020304" pitchFamily="18" charset="0"/>
              </a:rPr>
              <a:t>Read and Convert Image: Convert the image into a byte format.</a:t>
            </a:r>
          </a:p>
          <a:p>
            <a:pPr>
              <a:buAutoNum type="arabicPeriod"/>
            </a:pPr>
            <a:r>
              <a:rPr sz="2000" dirty="0">
                <a:latin typeface="Times New Roman" panose="02020603050405020304" pitchFamily="18" charset="0"/>
                <a:cs typeface="Times New Roman" panose="02020603050405020304" pitchFamily="18" charset="0"/>
              </a:rPr>
              <a:t>Generate MD5 If two </a:t>
            </a:r>
            <a:r>
              <a:rPr sz="2000" dirty="0" err="1">
                <a:latin typeface="Times New Roman" panose="02020603050405020304" pitchFamily="18" charset="0"/>
                <a:cs typeface="Times New Roman" panose="02020603050405020304" pitchFamily="18" charset="0"/>
              </a:rPr>
              <a:t>ima</a:t>
            </a:r>
            <a:r>
              <a:rPr lang="en-US" sz="2000" dirty="0" err="1">
                <a:latin typeface="Times New Roman" panose="02020603050405020304" pitchFamily="18" charset="0"/>
                <a:cs typeface="Times New Roman" panose="02020603050405020304" pitchFamily="18" charset="0"/>
              </a:rPr>
              <a:t>Hash</a:t>
            </a:r>
            <a:r>
              <a:rPr lang="en-US" sz="2000" dirty="0">
                <a:latin typeface="Times New Roman" panose="02020603050405020304" pitchFamily="18" charset="0"/>
                <a:cs typeface="Times New Roman" panose="02020603050405020304" pitchFamily="18" charset="0"/>
              </a:rPr>
              <a:t>:</a:t>
            </a:r>
          </a:p>
          <a:p>
            <a:pPr lvl="1">
              <a:buFont typeface="Arial" panose="020B0604020202020204"/>
              <a:buChar char="◦"/>
            </a:pPr>
            <a:r>
              <a:rPr lang="en-US" sz="2000" dirty="0">
                <a:latin typeface="Times New Roman" panose="02020603050405020304" pitchFamily="18" charset="0"/>
                <a:cs typeface="Times New Roman" panose="02020603050405020304" pitchFamily="18" charset="0"/>
              </a:rPr>
              <a:t>Compute an MD5 hash to create a unique fingerprint of the image.</a:t>
            </a:r>
          </a:p>
          <a:p>
            <a:pPr>
              <a:buAutoNum type="arabicPeriod"/>
            </a:pPr>
            <a:r>
              <a:rPr lang="en-US" sz="2000" dirty="0">
                <a:latin typeface="Times New Roman" panose="02020603050405020304" pitchFamily="18" charset="0"/>
                <a:cs typeface="Times New Roman" panose="02020603050405020304" pitchFamily="18" charset="0"/>
              </a:rPr>
              <a:t>Compare Hashes:</a:t>
            </a:r>
          </a:p>
          <a:p>
            <a:pPr lvl="1">
              <a:buFont typeface="Arial" panose="020B0604020202020204"/>
              <a:buChar char="◦"/>
            </a:pPr>
            <a:r>
              <a:rPr sz="2000" dirty="0" err="1">
                <a:latin typeface="Times New Roman" panose="02020603050405020304" pitchFamily="18" charset="0"/>
                <a:cs typeface="Times New Roman" panose="02020603050405020304" pitchFamily="18" charset="0"/>
              </a:rPr>
              <a:t>ges</a:t>
            </a:r>
            <a:r>
              <a:rPr sz="2000" dirty="0">
                <a:latin typeface="Times New Roman" panose="02020603050405020304" pitchFamily="18" charset="0"/>
                <a:cs typeface="Times New Roman" panose="02020603050405020304" pitchFamily="18" charset="0"/>
              </a:rPr>
              <a:t> have the same hash, they are duplicates.</a:t>
            </a:r>
          </a:p>
          <a:p>
            <a:pPr lvl="1">
              <a:buFont typeface="Arial" panose="020B0604020202020204"/>
              <a:buChar char="◦"/>
            </a:pPr>
            <a:r>
              <a:rPr sz="2000" dirty="0">
                <a:latin typeface="Times New Roman" panose="02020603050405020304" pitchFamily="18" charset="0"/>
                <a:cs typeface="Times New Roman" panose="02020603050405020304" pitchFamily="18" charset="0"/>
              </a:rPr>
              <a:t>If the hash is different, the image is unique or has been altered.</a:t>
            </a:r>
          </a:p>
          <a:p>
            <a:pPr>
              <a:spcAft>
                <a:spcPct val="60000"/>
              </a:spcAft>
            </a:pPr>
            <a:r>
              <a:rPr sz="2000" b="1" dirty="0">
                <a:latin typeface="Times New Roman" panose="02020603050405020304" pitchFamily="18" charset="0"/>
                <a:cs typeface="Times New Roman" panose="02020603050405020304" pitchFamily="18" charset="0"/>
              </a:rPr>
              <a:t>Output:</a:t>
            </a:r>
          </a:p>
          <a:p>
            <a:pPr>
              <a:buFont typeface="Arial" panose="020B0604020202020204"/>
              <a:buChar char="•"/>
            </a:pPr>
            <a:r>
              <a:rPr sz="2000" dirty="0">
                <a:latin typeface="Times New Roman" panose="02020603050405020304" pitchFamily="18" charset="0"/>
                <a:cs typeface="Times New Roman" panose="02020603050405020304" pitchFamily="18" charset="0"/>
              </a:rPr>
              <a:t>If the MD5 hash matches, the image is marked as duplicate.</a:t>
            </a:r>
          </a:p>
          <a:p>
            <a:pPr>
              <a:buFont typeface="Arial" panose="020B0604020202020204"/>
              <a:buChar char="•"/>
            </a:pPr>
            <a:r>
              <a:rPr sz="2000" dirty="0">
                <a:latin typeface="Times New Roman" panose="02020603050405020304" pitchFamily="18" charset="0"/>
                <a:cs typeface="Times New Roman" panose="02020603050405020304" pitchFamily="18" charset="0"/>
              </a:rPr>
              <a:t>If the MD5 hash differs, the image is either unique or tampered.</a:t>
            </a:r>
          </a:p>
          <a:p>
            <a:pPr>
              <a:spcAft>
                <a:spcPct val="60000"/>
              </a:spcAft>
            </a:pPr>
            <a:r>
              <a:rPr sz="2000" b="1" dirty="0">
                <a:latin typeface="Times New Roman" panose="02020603050405020304" pitchFamily="18" charset="0"/>
                <a:cs typeface="Times New Roman" panose="02020603050405020304" pitchFamily="18" charset="0"/>
              </a:rPr>
              <a:t>Training:</a:t>
            </a:r>
          </a:p>
          <a:p>
            <a:pPr>
              <a:buFont typeface="Arial" panose="020B0604020202020204"/>
              <a:buChar char="•"/>
            </a:pPr>
            <a:r>
              <a:rPr sz="2000" dirty="0">
                <a:latin typeface="Times New Roman" panose="02020603050405020304" pitchFamily="18" charset="0"/>
                <a:cs typeface="Times New Roman" panose="02020603050405020304" pitchFamily="18" charset="0"/>
              </a:rPr>
              <a:t>A dataset of duplicate and unique images is used for evaluation.</a:t>
            </a:r>
          </a:p>
          <a:p>
            <a:pPr>
              <a:buFont typeface="Arial" panose="020B0604020202020204"/>
              <a:buChar char="•"/>
            </a:pPr>
            <a:r>
              <a:rPr sz="2000" dirty="0">
                <a:latin typeface="Times New Roman" panose="02020603050405020304" pitchFamily="18" charset="0"/>
                <a:cs typeface="Times New Roman" panose="02020603050405020304" pitchFamily="18" charset="0"/>
              </a:rPr>
              <a:t>Different hashing methods (MD5, SHA-256) are tested for reliability.</a:t>
            </a:r>
          </a:p>
          <a:p>
            <a:pPr>
              <a:buFont typeface="Arial" panose="020B0604020202020204"/>
              <a:buChar char="•"/>
            </a:pPr>
            <a:r>
              <a:rPr sz="2000" dirty="0">
                <a:latin typeface="Times New Roman" panose="02020603050405020304" pitchFamily="18" charset="0"/>
                <a:cs typeface="Times New Roman" panose="02020603050405020304" pitchFamily="18" charset="0"/>
              </a:rPr>
              <a:t>The system is optimized to reduce hash collisions and improve accuracy.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93700" y="827314"/>
            <a:ext cx="11203214" cy="6585676"/>
          </a:xfrm>
          <a:prstGeom prst="rect">
            <a:avLst/>
          </a:prstGeom>
        </p:spPr>
        <p:txBody>
          <a:bodyPr>
            <a:noAutofit/>
          </a:bodyPr>
          <a:lstStyle/>
          <a:p>
            <a:pPr algn="ctr">
              <a:spcAft>
                <a:spcPct val="60000"/>
              </a:spcAft>
            </a:pPr>
            <a:r>
              <a:rPr lang="en-US" sz="2400" b="1" u="sng" dirty="0">
                <a:solidFill>
                  <a:schemeClr val="bg2">
                    <a:lumMod val="50000"/>
                  </a:schemeClr>
                </a:solidFill>
                <a:latin typeface="Times New Roman" panose="02020603050405020304" pitchFamily="18" charset="0"/>
                <a:cs typeface="Times New Roman" panose="02020603050405020304" pitchFamily="18" charset="0"/>
                <a:sym typeface="+mn-ea"/>
              </a:rPr>
              <a:t>TESTING</a:t>
            </a:r>
            <a:endParaRPr lang="en-US" sz="2400" b="1" u="sng" dirty="0">
              <a:latin typeface="Times New Roman" panose="02020603050405020304" pitchFamily="18" charset="0"/>
              <a:cs typeface="Times New Roman" panose="02020603050405020304" pitchFamily="18" charset="0"/>
            </a:endParaRPr>
          </a:p>
          <a:p>
            <a:pPr>
              <a:spcAft>
                <a:spcPct val="60000"/>
              </a:spcAft>
            </a:pPr>
            <a:r>
              <a:rPr sz="2400" b="1" dirty="0">
                <a:latin typeface="Times New Roman" panose="02020603050405020304" pitchFamily="18" charset="0"/>
                <a:cs typeface="Times New Roman" panose="02020603050405020304" pitchFamily="18" charset="0"/>
              </a:rPr>
              <a:t>Integration Testing</a:t>
            </a:r>
            <a:r>
              <a:rPr lang="en-US" sz="2400" b="1" dirty="0">
                <a:latin typeface="Times New Roman" panose="02020603050405020304" pitchFamily="18" charset="0"/>
                <a:cs typeface="Times New Roman" panose="02020603050405020304" pitchFamily="18" charset="0"/>
              </a:rPr>
              <a:t>:</a:t>
            </a:r>
            <a:endParaRPr sz="2400" b="1" dirty="0">
              <a:latin typeface="Times New Roman" panose="02020603050405020304" pitchFamily="18" charset="0"/>
              <a:cs typeface="Times New Roman" panose="02020603050405020304" pitchFamily="18" charset="0"/>
            </a:endParaRPr>
          </a:p>
          <a:p>
            <a:pPr algn="just"/>
            <a:r>
              <a:rPr sz="2000" dirty="0">
                <a:latin typeface="Times New Roman" panose="02020603050405020304" pitchFamily="18" charset="0"/>
                <a:cs typeface="Times New Roman" panose="02020603050405020304" pitchFamily="18" charset="0"/>
              </a:rPr>
              <a:t>Integration testing ensures that different components of the image forgery detection system work together correctly. It verifies that OpenCV-based feature matching and MD5 hash comparison integrate seamlessly. This step ensures that forged and duplicate images are correctly identified</a:t>
            </a:r>
            <a:r>
              <a:rPr dirty="0">
                <a:latin typeface="Times New Roman" panose="02020603050405020304" pitchFamily="18" charset="0"/>
                <a:cs typeface="Times New Roman" panose="02020603050405020304" pitchFamily="18" charset="0"/>
              </a:rPr>
              <a:t>.</a:t>
            </a:r>
          </a:p>
          <a:p>
            <a:pPr algn="just">
              <a:lnSpc>
                <a:spcPct val="150000"/>
              </a:lnSpc>
            </a:pPr>
            <a:r>
              <a:rPr sz="2400" b="1" dirty="0">
                <a:latin typeface="Times New Roman" panose="02020603050405020304" pitchFamily="18" charset="0"/>
                <a:cs typeface="Times New Roman" panose="02020603050405020304" pitchFamily="18" charset="0"/>
              </a:rPr>
              <a:t> Functional Testing</a:t>
            </a:r>
            <a:r>
              <a:rPr lang="en-US" sz="2400" b="1" dirty="0">
                <a:latin typeface="Times New Roman" panose="02020603050405020304" pitchFamily="18" charset="0"/>
                <a:cs typeface="Times New Roman" panose="02020603050405020304" pitchFamily="18" charset="0"/>
              </a:rPr>
              <a:t>:</a:t>
            </a:r>
            <a:endParaRPr sz="2400" b="1" dirty="0">
              <a:latin typeface="Times New Roman" panose="02020603050405020304" pitchFamily="18" charset="0"/>
              <a:cs typeface="Times New Roman" panose="02020603050405020304" pitchFamily="18" charset="0"/>
            </a:endParaRPr>
          </a:p>
          <a:p>
            <a:pPr algn="just"/>
            <a:r>
              <a:rPr sz="2000" dirty="0">
                <a:latin typeface="Times New Roman" panose="02020603050405020304" pitchFamily="18" charset="0"/>
                <a:cs typeface="Times New Roman" panose="02020603050405020304" pitchFamily="18" charset="0"/>
              </a:rPr>
              <a:t>Functional tests verify that the system detects forged and duplicate images accurately based on histogram comparison and MD5 hashing.</a:t>
            </a:r>
          </a:p>
          <a:p>
            <a:pPr algn="just"/>
            <a:r>
              <a:rPr sz="2000" dirty="0">
                <a:latin typeface="Times New Roman" panose="02020603050405020304" pitchFamily="18" charset="0"/>
                <a:cs typeface="Times New Roman" panose="02020603050405020304" pitchFamily="18" charset="0"/>
              </a:rPr>
              <a:t>Functional testing is centered on the following items:</a:t>
            </a:r>
          </a:p>
          <a:p>
            <a:pPr algn="just">
              <a:buFont typeface="Arial" panose="020B0604020202020204"/>
              <a:buChar char="•"/>
            </a:pPr>
            <a:r>
              <a:rPr sz="2000" dirty="0">
                <a:latin typeface="Times New Roman" panose="02020603050405020304" pitchFamily="18" charset="0"/>
                <a:cs typeface="Times New Roman" panose="02020603050405020304" pitchFamily="18" charset="0"/>
              </a:rPr>
              <a:t>Valid Input: Two sample images (image1.jpg and image2.jpg) are provided for testing.</a:t>
            </a:r>
          </a:p>
          <a:p>
            <a:pPr algn="just">
              <a:buFont typeface="Arial" panose="020B0604020202020204"/>
              <a:buChar char="•"/>
            </a:pPr>
            <a:r>
              <a:rPr sz="2000" dirty="0">
                <a:latin typeface="Times New Roman" panose="02020603050405020304" pitchFamily="18" charset="0"/>
                <a:cs typeface="Times New Roman" panose="02020603050405020304" pitchFamily="18" charset="0"/>
              </a:rPr>
              <a:t>Invalid Input: If an unsupported image format or corrupted file is provided, the system should reject it.</a:t>
            </a:r>
          </a:p>
          <a:p>
            <a:pPr algn="just">
              <a:buFont typeface="Arial" panose="020B0604020202020204"/>
              <a:buChar char="•"/>
            </a:pPr>
            <a:r>
              <a:rPr sz="2000" dirty="0">
                <a:latin typeface="Times New Roman" panose="02020603050405020304" pitchFamily="18" charset="0"/>
                <a:cs typeface="Times New Roman" panose="02020603050405020304" pitchFamily="18" charset="0"/>
              </a:rPr>
              <a:t>Functions: The similar() function (histogram comparison) and </a:t>
            </a:r>
            <a:r>
              <a:rPr sz="2000" dirty="0" err="1">
                <a:latin typeface="Times New Roman" panose="02020603050405020304" pitchFamily="18" charset="0"/>
                <a:cs typeface="Times New Roman" panose="02020603050405020304" pitchFamily="18" charset="0"/>
              </a:rPr>
              <a:t>createHash</a:t>
            </a:r>
            <a:r>
              <a:rPr sz="2000" dirty="0">
                <a:latin typeface="Times New Roman" panose="02020603050405020304" pitchFamily="18" charset="0"/>
                <a:cs typeface="Times New Roman" panose="02020603050405020304" pitchFamily="18" charset="0"/>
              </a:rPr>
              <a:t>() function (MD5 hashing) must be executed correctly.</a:t>
            </a:r>
          </a:p>
          <a:p>
            <a:pPr algn="just">
              <a:lnSpc>
                <a:spcPct val="150000"/>
              </a:lnSpc>
              <a:spcAft>
                <a:spcPct val="60000"/>
              </a:spcAft>
            </a:pPr>
            <a:r>
              <a:rPr sz="2400" b="1"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208BC7-43F5-CBE3-CB5D-641D77B771DD}"/>
              </a:ext>
            </a:extLst>
          </p:cNvPr>
          <p:cNvSpPr txBox="1"/>
          <p:nvPr/>
        </p:nvSpPr>
        <p:spPr>
          <a:xfrm>
            <a:off x="769257" y="378934"/>
            <a:ext cx="10653485" cy="6100131"/>
          </a:xfrm>
          <a:prstGeom prst="rect">
            <a:avLst/>
          </a:prstGeom>
          <a:noFill/>
        </p:spPr>
        <p:txBody>
          <a:bodyPr wrap="square">
            <a:spAutoFit/>
          </a:bodyPr>
          <a:lstStyle/>
          <a:p>
            <a:pPr algn="just">
              <a:lnSpc>
                <a:spcPct val="150000"/>
              </a:lnSpc>
              <a:spcAft>
                <a:spcPct val="60000"/>
              </a:spcAft>
            </a:pPr>
            <a:r>
              <a:rPr lang="en-US" sz="2400" b="1" dirty="0">
                <a:latin typeface="Times New Roman" panose="02020603050405020304" pitchFamily="18" charset="0"/>
                <a:cs typeface="Times New Roman" panose="02020603050405020304" pitchFamily="18" charset="0"/>
              </a:rPr>
              <a:t>Output:</a:t>
            </a:r>
            <a:endParaRPr lang="en-US" sz="2000" b="1" dirty="0">
              <a:latin typeface="Times New Roman" panose="02020603050405020304" pitchFamily="18" charset="0"/>
              <a:cs typeface="Times New Roman" panose="02020603050405020304" pitchFamily="18" charset="0"/>
            </a:endParaRPr>
          </a:p>
          <a:p>
            <a:pPr algn="just">
              <a:buFont typeface="Arial" panose="020B0604020202020204"/>
              <a:buChar char="•"/>
            </a:pPr>
            <a:r>
              <a:rPr lang="en-US" sz="2000" dirty="0">
                <a:latin typeface="Times New Roman" panose="02020603050405020304" pitchFamily="18" charset="0"/>
                <a:cs typeface="Times New Roman" panose="02020603050405020304" pitchFamily="18" charset="0"/>
              </a:rPr>
              <a:t>The system should correctly classify whether the images are duplicate, forged, or unique.</a:t>
            </a:r>
          </a:p>
          <a:p>
            <a:pPr algn="just">
              <a:buFont typeface="Arial" panose="020B0604020202020204"/>
              <a:buChar char="•"/>
            </a:pPr>
            <a:r>
              <a:rPr lang="en-US" sz="2000" dirty="0">
                <a:latin typeface="Times New Roman" panose="02020603050405020304" pitchFamily="18" charset="0"/>
                <a:cs typeface="Times New Roman" panose="02020603050405020304" pitchFamily="18" charset="0"/>
              </a:rPr>
              <a:t>If images have identical MD5 hashes, they are marked as duplicates.</a:t>
            </a:r>
          </a:p>
          <a:p>
            <a:pPr algn="just">
              <a:buFont typeface="Arial" panose="020B0604020202020204"/>
              <a:buChar char="•"/>
            </a:pPr>
            <a:r>
              <a:rPr lang="en-US" sz="2000" dirty="0">
                <a:latin typeface="Times New Roman" panose="02020603050405020304" pitchFamily="18" charset="0"/>
                <a:cs typeface="Times New Roman" panose="02020603050405020304" pitchFamily="18" charset="0"/>
              </a:rPr>
              <a:t>If histograms show significant differences, the image is flagged as forged.</a:t>
            </a:r>
          </a:p>
          <a:p>
            <a:r>
              <a:rPr lang="en-US" sz="2000" b="1" dirty="0">
                <a:latin typeface="Times New Roman" panose="02020603050405020304" pitchFamily="18" charset="0"/>
                <a:cs typeface="Times New Roman" panose="02020603050405020304" pitchFamily="18" charset="0"/>
              </a:rPr>
              <a:t>Testing Objectives: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Duplicate Image Detection</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Edited Image Detection</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System Performance Testing</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User Interface Testing</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Integration Testing</a:t>
            </a:r>
          </a:p>
          <a:p>
            <a:r>
              <a:rPr lang="en-US" sz="2000" b="1" dirty="0">
                <a:latin typeface="Times New Roman" panose="02020603050405020304" pitchFamily="18" charset="0"/>
                <a:cs typeface="Times New Roman" panose="02020603050405020304" pitchFamily="18" charset="0"/>
              </a:rPr>
              <a:t>Testing Features:</a:t>
            </a:r>
          </a:p>
          <a:p>
            <a:pPr>
              <a:buFont typeface="+mj-lt"/>
              <a:buAutoNum type="arabicPeriod"/>
            </a:pPr>
            <a:r>
              <a:rPr lang="en-US" sz="2000" dirty="0">
                <a:latin typeface="Times New Roman" panose="02020603050405020304" pitchFamily="18" charset="0"/>
                <a:cs typeface="Times New Roman" panose="02020603050405020304" pitchFamily="18" charset="0"/>
              </a:rPr>
              <a:t>Exact Duplicate Detection</a:t>
            </a:r>
          </a:p>
          <a:p>
            <a:pPr>
              <a:buFont typeface="+mj-lt"/>
              <a:buAutoNum type="arabicPeriod"/>
            </a:pPr>
            <a:r>
              <a:rPr lang="en-US" sz="2000" dirty="0">
                <a:latin typeface="Times New Roman" panose="02020603050405020304" pitchFamily="18" charset="0"/>
                <a:cs typeface="Times New Roman" panose="02020603050405020304" pitchFamily="18" charset="0"/>
              </a:rPr>
              <a:t>Similar Image Detection</a:t>
            </a:r>
          </a:p>
          <a:p>
            <a:pPr>
              <a:buFont typeface="+mj-lt"/>
              <a:buAutoNum type="arabicPeriod"/>
            </a:pPr>
            <a:r>
              <a:rPr lang="en-US" sz="2000" dirty="0">
                <a:latin typeface="Times New Roman" panose="02020603050405020304" pitchFamily="18" charset="0"/>
                <a:cs typeface="Times New Roman" panose="02020603050405020304" pitchFamily="18" charset="0"/>
              </a:rPr>
              <a:t>Similarity Score Calculation</a:t>
            </a:r>
          </a:p>
          <a:p>
            <a:pPr>
              <a:buFont typeface="+mj-lt"/>
              <a:buAutoNum type="arabicPeriod"/>
            </a:pPr>
            <a:r>
              <a:rPr lang="en-US" sz="2000" dirty="0">
                <a:latin typeface="Times New Roman" panose="02020603050405020304" pitchFamily="18" charset="0"/>
                <a:cs typeface="Times New Roman" panose="02020603050405020304" pitchFamily="18" charset="0"/>
              </a:rPr>
              <a:t>Multiple Image Format Support</a:t>
            </a:r>
          </a:p>
          <a:p>
            <a:pPr>
              <a:buFont typeface="+mj-lt"/>
              <a:buAutoNum type="arabicPeriod"/>
            </a:pPr>
            <a:r>
              <a:rPr lang="en-US" sz="2000" dirty="0">
                <a:latin typeface="Times New Roman" panose="02020603050405020304" pitchFamily="18" charset="0"/>
                <a:cs typeface="Times New Roman" panose="02020603050405020304" pitchFamily="18" charset="0"/>
              </a:rPr>
              <a:t>User-Friendly Web Interface</a:t>
            </a:r>
          </a:p>
          <a:p>
            <a:pPr>
              <a:buFont typeface="+mj-lt"/>
              <a:buAutoNum type="arabicPeriod"/>
            </a:pPr>
            <a:r>
              <a:rPr lang="en-US" sz="2000" dirty="0">
                <a:latin typeface="Times New Roman" panose="02020603050405020304" pitchFamily="18" charset="0"/>
                <a:cs typeface="Times New Roman" panose="02020603050405020304" pitchFamily="18" charset="0"/>
              </a:rPr>
              <a:t>Error Handling Mechanism</a:t>
            </a:r>
          </a:p>
          <a:p>
            <a:pPr>
              <a:buFont typeface="+mj-lt"/>
              <a:buAutoNum type="arabicPeriod"/>
            </a:pPr>
            <a:r>
              <a:rPr lang="en-US" sz="2000" dirty="0">
                <a:latin typeface="Times New Roman" panose="02020603050405020304" pitchFamily="18" charset="0"/>
                <a:cs typeface="Times New Roman" panose="02020603050405020304" pitchFamily="18" charset="0"/>
              </a:rPr>
              <a:t>Efficient Image Processing</a:t>
            </a:r>
          </a:p>
        </p:txBody>
      </p:sp>
    </p:spTree>
    <p:extLst>
      <p:ext uri="{BB962C8B-B14F-4D97-AF65-F5344CB8AC3E}">
        <p14:creationId xmlns:p14="http://schemas.microsoft.com/office/powerpoint/2010/main" val="1767436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44195" y="427990"/>
            <a:ext cx="11137265" cy="5012055"/>
          </a:xfrm>
          <a:prstGeom prst="rect">
            <a:avLst/>
          </a:prstGeom>
        </p:spPr>
        <p:txBody>
          <a:bodyPr wrap="square">
            <a:noAutofit/>
          </a:bodyPr>
          <a:lstStyle/>
          <a:p>
            <a:pPr indent="0" algn="just">
              <a:buFont typeface="Arial" panose="020B0604020202020204"/>
              <a:buNone/>
            </a:pPr>
            <a:r>
              <a:rPr lang="en-US" altLang="en-US" sz="2000" b="1" dirty="0">
                <a:latin typeface="Times New Roman" panose="02020603050405020304" pitchFamily="18" charset="0"/>
                <a:cs typeface="Times New Roman" panose="02020603050405020304" pitchFamily="18" charset="0"/>
                <a:sym typeface="+mn-ea"/>
              </a:rPr>
              <a:t>Systems/Procedures</a:t>
            </a:r>
            <a:endParaRPr lang="en-US" altLang="en-US" sz="2000" b="1" dirty="0">
              <a:latin typeface="Times New Roman" panose="02020603050405020304" pitchFamily="18" charset="0"/>
              <a:cs typeface="Times New Roman" panose="02020603050405020304" pitchFamily="18" charset="0"/>
            </a:endParaRPr>
          </a:p>
          <a:p>
            <a:pPr algn="just">
              <a:buFont typeface="Arial" panose="020B0604020202020204"/>
              <a:buChar char="•"/>
            </a:pPr>
            <a:r>
              <a:rPr lang="en-US" altLang="en-US" sz="2000" dirty="0">
                <a:latin typeface="Times New Roman" panose="02020603050405020304" pitchFamily="18" charset="0"/>
                <a:cs typeface="Times New Roman" panose="02020603050405020304" pitchFamily="18" charset="0"/>
                <a:sym typeface="+mn-ea"/>
              </a:rPr>
              <a:t>The similar() function compares image histograms to detect visual differences.</a:t>
            </a: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a:buChar char="•"/>
            </a:pPr>
            <a:r>
              <a:rPr lang="en-US" altLang="en-US" sz="2000" dirty="0">
                <a:latin typeface="Times New Roman" panose="02020603050405020304" pitchFamily="18" charset="0"/>
                <a:cs typeface="Times New Roman" panose="02020603050405020304" pitchFamily="18" charset="0"/>
                <a:sym typeface="+mn-ea"/>
              </a:rPr>
              <a:t>The </a:t>
            </a:r>
            <a:r>
              <a:rPr lang="en-US" altLang="en-US" sz="2000" dirty="0" err="1">
                <a:latin typeface="Times New Roman" panose="02020603050405020304" pitchFamily="18" charset="0"/>
                <a:cs typeface="Times New Roman" panose="02020603050405020304" pitchFamily="18" charset="0"/>
                <a:sym typeface="+mn-ea"/>
              </a:rPr>
              <a:t>createHash</a:t>
            </a:r>
            <a:r>
              <a:rPr lang="en-US" altLang="en-US" sz="2000" dirty="0">
                <a:latin typeface="Times New Roman" panose="02020603050405020304" pitchFamily="18" charset="0"/>
                <a:cs typeface="Times New Roman" panose="02020603050405020304" pitchFamily="18" charset="0"/>
                <a:sym typeface="+mn-ea"/>
              </a:rPr>
              <a:t>() function generates and compares MD5 hashes for duplicate detection.</a:t>
            </a:r>
            <a:endParaRPr lang="en-US" altLang="en-US" sz="2000" dirty="0">
              <a:latin typeface="Times New Roman" panose="02020603050405020304" pitchFamily="18" charset="0"/>
              <a:cs typeface="Times New Roman" panose="02020603050405020304" pitchFamily="18" charset="0"/>
            </a:endParaRPr>
          </a:p>
          <a:p>
            <a:pPr>
              <a:spcAft>
                <a:spcPct val="60000"/>
              </a:spcAft>
            </a:pPr>
            <a:r>
              <a:rPr sz="2000" b="1" dirty="0">
                <a:latin typeface="Times New Roman" panose="02020603050405020304" pitchFamily="18" charset="0"/>
                <a:cs typeface="Times New Roman" panose="02020603050405020304" pitchFamily="18" charset="0"/>
              </a:rPr>
              <a:t>Unit Testing</a:t>
            </a:r>
          </a:p>
          <a:p>
            <a:r>
              <a:rPr sz="2000" dirty="0">
                <a:latin typeface="Times New Roman" panose="02020603050405020304" pitchFamily="18" charset="0"/>
                <a:cs typeface="Times New Roman" panose="02020603050405020304" pitchFamily="18" charset="0"/>
              </a:rPr>
              <a:t>Unit testing validates the individual functions in the system:</a:t>
            </a:r>
          </a:p>
          <a:p>
            <a:pPr>
              <a:buFont typeface="Arial" panose="020B0604020202020204"/>
              <a:buChar char="•"/>
            </a:pPr>
            <a:r>
              <a:rPr sz="2000" dirty="0">
                <a:latin typeface="Times New Roman" panose="02020603050405020304" pitchFamily="18" charset="0"/>
                <a:cs typeface="Times New Roman" panose="02020603050405020304" pitchFamily="18" charset="0"/>
              </a:rPr>
              <a:t>similar() function: Ensures histogram comparison works correctly and provides accurate similarity scores.</a:t>
            </a:r>
          </a:p>
          <a:p>
            <a:pPr>
              <a:buFont typeface="Arial" panose="020B0604020202020204"/>
              <a:buChar char="•"/>
            </a:pPr>
            <a:r>
              <a:rPr sz="2000" dirty="0" err="1">
                <a:latin typeface="Times New Roman" panose="02020603050405020304" pitchFamily="18" charset="0"/>
                <a:cs typeface="Times New Roman" panose="02020603050405020304" pitchFamily="18" charset="0"/>
              </a:rPr>
              <a:t>createHash</a:t>
            </a:r>
            <a:r>
              <a:rPr sz="2000" dirty="0">
                <a:latin typeface="Times New Roman" panose="02020603050405020304" pitchFamily="18" charset="0"/>
                <a:cs typeface="Times New Roman" panose="02020603050405020304" pitchFamily="18" charset="0"/>
              </a:rPr>
              <a:t>() function: Verifies that MD5 hashes are generated consistently and detect duplicates correctly.</a:t>
            </a:r>
          </a:p>
          <a:p>
            <a:pPr>
              <a:spcAft>
                <a:spcPct val="60000"/>
              </a:spcAft>
            </a:pPr>
            <a:r>
              <a:rPr sz="2000" b="1" dirty="0">
                <a:latin typeface="Times New Roman" panose="02020603050405020304" pitchFamily="18" charset="0"/>
                <a:cs typeface="Times New Roman" panose="02020603050405020304" pitchFamily="18" charset="0"/>
              </a:rPr>
              <a:t>White Box Testing</a:t>
            </a:r>
          </a:p>
          <a:p>
            <a:r>
              <a:rPr sz="2000" dirty="0">
                <a:latin typeface="Times New Roman" panose="02020603050405020304" pitchFamily="18" charset="0"/>
                <a:cs typeface="Times New Roman" panose="02020603050405020304" pitchFamily="18" charset="0"/>
              </a:rPr>
              <a:t>White box testing checks the internal logic of the similar() and </a:t>
            </a:r>
            <a:r>
              <a:rPr sz="2000" dirty="0" err="1">
                <a:latin typeface="Times New Roman" panose="02020603050405020304" pitchFamily="18" charset="0"/>
                <a:cs typeface="Times New Roman" panose="02020603050405020304" pitchFamily="18" charset="0"/>
              </a:rPr>
              <a:t>createHash</a:t>
            </a:r>
            <a:r>
              <a:rPr sz="2000" dirty="0">
                <a:latin typeface="Times New Roman" panose="02020603050405020304" pitchFamily="18" charset="0"/>
                <a:cs typeface="Times New Roman" panose="02020603050405020304" pitchFamily="18" charset="0"/>
              </a:rPr>
              <a:t>() functions, ensuring:</a:t>
            </a:r>
          </a:p>
          <a:p>
            <a:pPr>
              <a:buFont typeface="Arial" panose="020B0604020202020204"/>
              <a:buChar char="•"/>
            </a:pPr>
            <a:r>
              <a:rPr sz="2000" dirty="0">
                <a:latin typeface="Times New Roman" panose="02020603050405020304" pitchFamily="18" charset="0"/>
                <a:cs typeface="Times New Roman" panose="02020603050405020304" pitchFamily="18" charset="0"/>
              </a:rPr>
              <a:t>Correct calculation of histogram differences.</a:t>
            </a:r>
          </a:p>
          <a:p>
            <a:pPr>
              <a:buFont typeface="Arial" panose="020B0604020202020204"/>
              <a:buChar char="•"/>
            </a:pPr>
            <a:r>
              <a:rPr sz="2000" dirty="0">
                <a:latin typeface="Times New Roman" panose="02020603050405020304" pitchFamily="18" charset="0"/>
                <a:cs typeface="Times New Roman" panose="02020603050405020304" pitchFamily="18" charset="0"/>
              </a:rPr>
              <a:t>Proper hashing of images without errors.</a:t>
            </a:r>
          </a:p>
          <a:p>
            <a:pPr>
              <a:buFont typeface="Arial" panose="020B0604020202020204"/>
              <a:buChar char="•"/>
            </a:pPr>
            <a:r>
              <a:rPr sz="2000" dirty="0">
                <a:latin typeface="Times New Roman" panose="02020603050405020304" pitchFamily="18" charset="0"/>
                <a:cs typeface="Times New Roman" panose="02020603050405020304" pitchFamily="18" charset="0"/>
              </a:rPr>
              <a:t>Logical flow for identifying forged or duplicate images.</a:t>
            </a:r>
          </a:p>
          <a:p>
            <a:pPr>
              <a:spcAft>
                <a:spcPct val="60000"/>
              </a:spcAft>
            </a:pPr>
            <a:r>
              <a:rPr sz="2000" b="1" dirty="0">
                <a:latin typeface="Times New Roman" panose="02020603050405020304" pitchFamily="18" charset="0"/>
                <a:cs typeface="Times New Roman" panose="02020603050405020304" pitchFamily="18" charset="0"/>
              </a:rPr>
              <a:t> Black Box Testing</a:t>
            </a:r>
          </a:p>
          <a:p>
            <a:r>
              <a:rPr sz="2000" dirty="0">
                <a:latin typeface="Times New Roman" panose="02020603050405020304" pitchFamily="18" charset="0"/>
                <a:cs typeface="Times New Roman" panose="02020603050405020304" pitchFamily="18" charset="0"/>
              </a:rPr>
              <a:t>Black box testing evaluates the system without knowledge of the internal code, focusing on:</a:t>
            </a:r>
          </a:p>
          <a:p>
            <a:pPr>
              <a:buFont typeface="Arial" panose="020B0604020202020204"/>
              <a:buChar char="•"/>
            </a:pPr>
            <a:r>
              <a:rPr sz="2000" dirty="0">
                <a:latin typeface="Times New Roman" panose="02020603050405020304" pitchFamily="18" charset="0"/>
                <a:cs typeface="Times New Roman" panose="02020603050405020304" pitchFamily="18" charset="0"/>
              </a:rPr>
              <a:t>Providing different image pairs and verifying correct classification.</a:t>
            </a:r>
          </a:p>
          <a:p>
            <a:pPr>
              <a:buFont typeface="Arial" panose="020B0604020202020204"/>
              <a:buChar char="•"/>
            </a:pPr>
            <a:r>
              <a:rPr sz="2000" dirty="0">
                <a:latin typeface="Times New Roman" panose="02020603050405020304" pitchFamily="18" charset="0"/>
                <a:cs typeface="Times New Roman" panose="02020603050405020304" pitchFamily="18" charset="0"/>
              </a:rPr>
              <a:t>Checking how the system handles edge cases, such as near-duplicate images.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12B3FC-6197-DB38-9F30-E40154B985EA}"/>
              </a:ext>
            </a:extLst>
          </p:cNvPr>
          <p:cNvSpPr txBox="1"/>
          <p:nvPr/>
        </p:nvSpPr>
        <p:spPr>
          <a:xfrm>
            <a:off x="3164115" y="432191"/>
            <a:ext cx="6096000" cy="461665"/>
          </a:xfrm>
          <a:prstGeom prst="rect">
            <a:avLst/>
          </a:prstGeom>
          <a:noFill/>
        </p:spPr>
        <p:txBody>
          <a:bodyPr wrap="square">
            <a:spAutoFit/>
          </a:bodyPr>
          <a:lstStyle/>
          <a:p>
            <a:pPr algn="ctr">
              <a:spcAft>
                <a:spcPct val="60000"/>
              </a:spcAft>
            </a:pPr>
            <a:r>
              <a:rPr lang="en-US" sz="2400" b="1" u="sng" dirty="0">
                <a:solidFill>
                  <a:schemeClr val="bg2">
                    <a:lumMod val="50000"/>
                  </a:schemeClr>
                </a:solidFill>
                <a:latin typeface="Times New Roman" panose="02020603050405020304" pitchFamily="18" charset="0"/>
                <a:cs typeface="Times New Roman" panose="02020603050405020304" pitchFamily="18" charset="0"/>
                <a:sym typeface="+mn-ea"/>
              </a:rPr>
              <a:t>RESULTS</a:t>
            </a:r>
            <a:endParaRPr lang="en-US" sz="24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468673-AA1D-CABE-F7ED-D98F6F2DB1AA}"/>
              </a:ext>
            </a:extLst>
          </p:cNvPr>
          <p:cNvSpPr txBox="1"/>
          <p:nvPr/>
        </p:nvSpPr>
        <p:spPr>
          <a:xfrm>
            <a:off x="-174172" y="1408668"/>
            <a:ext cx="6096000" cy="369332"/>
          </a:xfrm>
          <a:prstGeom prst="rect">
            <a:avLst/>
          </a:prstGeom>
          <a:noFill/>
        </p:spPr>
        <p:txBody>
          <a:bodyPr wrap="square">
            <a:spAutoFit/>
          </a:bodyPr>
          <a:lstStyle/>
          <a:p>
            <a:pPr algn="ctr">
              <a:spcAft>
                <a:spcPct val="60000"/>
              </a:spcAft>
            </a:pPr>
            <a:r>
              <a:rPr lang="en-US" b="1" dirty="0">
                <a:latin typeface="Times New Roman" panose="02020603050405020304" pitchFamily="18" charset="0"/>
                <a:cs typeface="Times New Roman" panose="02020603050405020304" pitchFamily="18" charset="0"/>
              </a:rPr>
              <a:t>Original Image:</a:t>
            </a:r>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CA4AC8D-77EC-08F1-9BE8-64797669C431}"/>
              </a:ext>
            </a:extLst>
          </p:cNvPr>
          <p:cNvSpPr txBox="1"/>
          <p:nvPr/>
        </p:nvSpPr>
        <p:spPr>
          <a:xfrm>
            <a:off x="4992915" y="1408668"/>
            <a:ext cx="6183084" cy="369332"/>
          </a:xfrm>
          <a:prstGeom prst="rect">
            <a:avLst/>
          </a:prstGeom>
          <a:noFill/>
        </p:spPr>
        <p:txBody>
          <a:bodyPr wrap="square">
            <a:spAutoFit/>
          </a:bodyPr>
          <a:lstStyle/>
          <a:p>
            <a:pPr algn="ctr">
              <a:spcAft>
                <a:spcPct val="60000"/>
              </a:spcAft>
            </a:pPr>
            <a:r>
              <a:rPr lang="en-US" b="1" dirty="0">
                <a:latin typeface="Times New Roman" panose="02020603050405020304" pitchFamily="18" charset="0"/>
                <a:cs typeface="Times New Roman" panose="02020603050405020304" pitchFamily="18" charset="0"/>
              </a:rPr>
              <a:t>Forged Image:</a:t>
            </a:r>
            <a:endParaRPr lang="en-US" sz="18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E8296F5-8390-791D-FEE3-C6E0851F6CDB}"/>
              </a:ext>
            </a:extLst>
          </p:cNvPr>
          <p:cNvPicPr>
            <a:picLocks noChangeAspect="1"/>
          </p:cNvPicPr>
          <p:nvPr/>
        </p:nvPicPr>
        <p:blipFill>
          <a:blip r:embed="rId2"/>
          <a:stretch>
            <a:fillRect/>
          </a:stretch>
        </p:blipFill>
        <p:spPr>
          <a:xfrm>
            <a:off x="1328777" y="1948543"/>
            <a:ext cx="3388365" cy="4138096"/>
          </a:xfrm>
          <a:prstGeom prst="rect">
            <a:avLst/>
          </a:prstGeom>
        </p:spPr>
      </p:pic>
      <p:pic>
        <p:nvPicPr>
          <p:cNvPr id="11" name="Picture 10">
            <a:extLst>
              <a:ext uri="{FF2B5EF4-FFF2-40B4-BE49-F238E27FC236}">
                <a16:creationId xmlns:a16="http://schemas.microsoft.com/office/drawing/2014/main" id="{5C684F4F-183E-9940-C25A-B9F51039A984}"/>
              </a:ext>
            </a:extLst>
          </p:cNvPr>
          <p:cNvPicPr>
            <a:picLocks noChangeAspect="1"/>
          </p:cNvPicPr>
          <p:nvPr/>
        </p:nvPicPr>
        <p:blipFill>
          <a:blip r:embed="rId3"/>
          <a:stretch>
            <a:fillRect/>
          </a:stretch>
        </p:blipFill>
        <p:spPr>
          <a:xfrm>
            <a:off x="6474731" y="1948543"/>
            <a:ext cx="3641725" cy="41380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CD67A8-66FC-7E66-574B-11B215A60E38}"/>
              </a:ext>
            </a:extLst>
          </p:cNvPr>
          <p:cNvSpPr txBox="1"/>
          <p:nvPr/>
        </p:nvSpPr>
        <p:spPr>
          <a:xfrm>
            <a:off x="986971" y="591848"/>
            <a:ext cx="6096000" cy="400110"/>
          </a:xfrm>
          <a:prstGeom prst="rect">
            <a:avLst/>
          </a:prstGeom>
          <a:noFill/>
        </p:spPr>
        <p:txBody>
          <a:bodyPr wrap="square">
            <a:spAutoFit/>
          </a:bodyPr>
          <a:lstStyle/>
          <a:p>
            <a:r>
              <a:rPr lang="en-US" sz="2000" b="1" dirty="0"/>
              <a:t>Comparing Hash Values:</a:t>
            </a:r>
          </a:p>
        </p:txBody>
      </p:sp>
      <p:pic>
        <p:nvPicPr>
          <p:cNvPr id="4" name="Picture 3">
            <a:extLst>
              <a:ext uri="{FF2B5EF4-FFF2-40B4-BE49-F238E27FC236}">
                <a16:creationId xmlns:a16="http://schemas.microsoft.com/office/drawing/2014/main" id="{786E8FCD-4376-4241-3733-5A9CA642098E}"/>
              </a:ext>
            </a:extLst>
          </p:cNvPr>
          <p:cNvPicPr>
            <a:picLocks noChangeAspect="1"/>
          </p:cNvPicPr>
          <p:nvPr/>
        </p:nvPicPr>
        <p:blipFill>
          <a:blip r:embed="rId2"/>
          <a:stretch>
            <a:fillRect/>
          </a:stretch>
        </p:blipFill>
        <p:spPr>
          <a:xfrm>
            <a:off x="986971" y="991958"/>
            <a:ext cx="6429828" cy="3044371"/>
          </a:xfrm>
          <a:prstGeom prst="rect">
            <a:avLst/>
          </a:prstGeom>
        </p:spPr>
      </p:pic>
      <p:pic>
        <p:nvPicPr>
          <p:cNvPr id="5" name="Picture 4">
            <a:extLst>
              <a:ext uri="{FF2B5EF4-FFF2-40B4-BE49-F238E27FC236}">
                <a16:creationId xmlns:a16="http://schemas.microsoft.com/office/drawing/2014/main" id="{E2F41D1E-6DEF-11A0-16EE-D99D1B49C51A}"/>
              </a:ext>
            </a:extLst>
          </p:cNvPr>
          <p:cNvPicPr>
            <a:picLocks noChangeAspect="1"/>
          </p:cNvPicPr>
          <p:nvPr/>
        </p:nvPicPr>
        <p:blipFill>
          <a:blip r:embed="rId3"/>
          <a:stretch>
            <a:fillRect/>
          </a:stretch>
        </p:blipFill>
        <p:spPr>
          <a:xfrm>
            <a:off x="986971" y="4154714"/>
            <a:ext cx="3860800" cy="1930400"/>
          </a:xfrm>
          <a:prstGeom prst="rect">
            <a:avLst/>
          </a:prstGeom>
        </p:spPr>
      </p:pic>
    </p:spTree>
    <p:extLst>
      <p:ext uri="{BB962C8B-B14F-4D97-AF65-F5344CB8AC3E}">
        <p14:creationId xmlns:p14="http://schemas.microsoft.com/office/powerpoint/2010/main" val="1243857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3C6089-B1A1-C2B8-7306-1613E17D0F6A}"/>
              </a:ext>
            </a:extLst>
          </p:cNvPr>
          <p:cNvSpPr txBox="1"/>
          <p:nvPr/>
        </p:nvSpPr>
        <p:spPr>
          <a:xfrm>
            <a:off x="1074056" y="1365293"/>
            <a:ext cx="7082971" cy="3411640"/>
          </a:xfrm>
          <a:prstGeom prst="rect">
            <a:avLst/>
          </a:prstGeom>
          <a:noFill/>
        </p:spPr>
        <p:txBody>
          <a:bodyPr wrap="square">
            <a:spAutoFit/>
          </a:bodyPr>
          <a:lstStyle/>
          <a:p>
            <a:pPr>
              <a:lnSpc>
                <a:spcPct val="150000"/>
              </a:lnSpc>
            </a:pPr>
            <a:r>
              <a:rPr lang="en-US" sz="2000" b="1" dirty="0"/>
              <a:t>COMPUTATIONAL METRICS:</a:t>
            </a:r>
          </a:p>
          <a:p>
            <a:pPr>
              <a:lnSpc>
                <a:spcPct val="150000"/>
              </a:lnSpc>
            </a:pPr>
            <a:r>
              <a:rPr lang="en-US" dirty="0"/>
              <a:t>Precision = TP / (TP + FP)</a:t>
            </a:r>
          </a:p>
          <a:p>
            <a:pPr>
              <a:lnSpc>
                <a:spcPct val="150000"/>
              </a:lnSpc>
            </a:pPr>
            <a:r>
              <a:rPr lang="en-US" dirty="0"/>
              <a:t>Recall = TP / (TP + FN)</a:t>
            </a:r>
          </a:p>
          <a:p>
            <a:pPr>
              <a:lnSpc>
                <a:spcPct val="150000"/>
              </a:lnSpc>
            </a:pPr>
            <a:r>
              <a:rPr lang="en-US" dirty="0"/>
              <a:t>F1-Score = 2 × (Precision × Recall) / (Precision + Recall)</a:t>
            </a:r>
          </a:p>
          <a:p>
            <a:pPr>
              <a:lnSpc>
                <a:spcPct val="150000"/>
              </a:lnSpc>
            </a:pPr>
            <a:r>
              <a:rPr lang="en-US" dirty="0"/>
              <a:t>Here, we have perfect detection, so:</a:t>
            </a:r>
          </a:p>
          <a:p>
            <a:pPr>
              <a:lnSpc>
                <a:spcPct val="150000"/>
              </a:lnSpc>
            </a:pPr>
            <a:r>
              <a:rPr lang="en-US" dirty="0"/>
              <a:t>True Positives (TP) = All forged pixels detected correctly</a:t>
            </a:r>
          </a:p>
          <a:p>
            <a:pPr>
              <a:lnSpc>
                <a:spcPct val="150000"/>
              </a:lnSpc>
            </a:pPr>
            <a:r>
              <a:rPr lang="en-US" dirty="0"/>
              <a:t>False Positives (FP) = 0 (No extra detections)</a:t>
            </a:r>
          </a:p>
          <a:p>
            <a:pPr>
              <a:lnSpc>
                <a:spcPct val="150000"/>
              </a:lnSpc>
            </a:pPr>
            <a:r>
              <a:rPr lang="en-US" dirty="0"/>
              <a:t>False Negatives (FN) = 0 (No missing forgery pixels)</a:t>
            </a:r>
          </a:p>
        </p:txBody>
      </p:sp>
    </p:spTree>
    <p:extLst>
      <p:ext uri="{BB962C8B-B14F-4D97-AF65-F5344CB8AC3E}">
        <p14:creationId xmlns:p14="http://schemas.microsoft.com/office/powerpoint/2010/main" val="11040389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239589" y="51768"/>
            <a:ext cx="11555505" cy="754478"/>
          </a:xfrm>
          <a:prstGeom prst="rect">
            <a:avLst/>
          </a:prstGeom>
          <a:ln>
            <a:solidFill>
              <a:schemeClr val="bg2">
                <a:lumMod val="50000"/>
              </a:schemeClr>
            </a:solidFill>
          </a:ln>
          <a:effectLst/>
        </p:spPr>
        <p:txBody>
          <a:bodyPr vert="horz" lIns="91440" tIns="45720" rIns="91440" bIns="45720" rtlCol="0" anchor="t" anchorCtr="0">
            <a:no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anose="02040502050405020303" pitchFamily="18" charset="0"/>
              <a:buNone/>
            </a:pPr>
            <a:r>
              <a:rPr lang="en-IN" sz="3600" dirty="0">
                <a:solidFill>
                  <a:schemeClr val="bg2">
                    <a:lumMod val="50000"/>
                  </a:schemeClr>
                </a:solidFill>
              </a:rPr>
              <a:t>Conclusion</a:t>
            </a:r>
          </a:p>
        </p:txBody>
      </p:sp>
      <p:sp>
        <p:nvSpPr>
          <p:cNvPr id="5" name="Rectangle 4"/>
          <p:cNvSpPr/>
          <p:nvPr/>
        </p:nvSpPr>
        <p:spPr>
          <a:xfrm>
            <a:off x="239588" y="1629024"/>
            <a:ext cx="11362475" cy="373031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The project has concluded that, we have developed an application by using deep learning methods to detect the image forgery. We can detect the image forgery with high accuracy by using OpenCV and MD5 methods. MD5 gives the better performance in image detection.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demonstrates a simple yet effective approach to detect forged images.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By combining histogram comparison and MD5 hashing, we can:</a:t>
            </a:r>
          </a:p>
          <a:p>
            <a:pPr>
              <a:lnSpc>
                <a:spcPct val="150000"/>
              </a:lnSpc>
            </a:pPr>
            <a:r>
              <a:rPr lang="en-US" sz="2000" dirty="0">
                <a:latin typeface="Times New Roman" panose="02020603050405020304" pitchFamily="18" charset="0"/>
                <a:cs typeface="Times New Roman" panose="02020603050405020304" pitchFamily="18" charset="0"/>
              </a:rPr>
              <a:t>- Identify exact duplicate images</a:t>
            </a:r>
          </a:p>
          <a:p>
            <a:pPr>
              <a:lnSpc>
                <a:spcPct val="150000"/>
              </a:lnSpc>
            </a:pPr>
            <a:r>
              <a:rPr lang="en-US" sz="2000" dirty="0">
                <a:latin typeface="Times New Roman" panose="02020603050405020304" pitchFamily="18" charset="0"/>
                <a:cs typeface="Times New Roman" panose="02020603050405020304" pitchFamily="18" charset="0"/>
              </a:rPr>
              <a:t>- Detect visually similar forgeries</a:t>
            </a:r>
          </a:p>
          <a:p>
            <a:pPr>
              <a:lnSpc>
                <a:spcPct val="150000"/>
              </a:lnSpc>
            </a:pPr>
            <a:r>
              <a:rPr lang="en-US" sz="2000" dirty="0">
                <a:latin typeface="Times New Roman" panose="02020603050405020304" pitchFamily="18" charset="0"/>
                <a:cs typeface="Times New Roman" panose="02020603050405020304" pitchFamily="18" charset="0"/>
              </a:rPr>
              <a:t>However, advanced forgery techniques require AI-based solutions.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p>
        </p:txBody>
      </p:sp>
      <p:sp>
        <p:nvSpPr>
          <p:cNvPr id="5" name="TextBox 4"/>
          <p:cNvSpPr txBox="1"/>
          <p:nvPr/>
        </p:nvSpPr>
        <p:spPr>
          <a:xfrm>
            <a:off x="815789" y="1619914"/>
            <a:ext cx="10803755" cy="3741409"/>
          </a:xfrm>
          <a:prstGeom prst="rect">
            <a:avLst/>
          </a:prstGeom>
          <a:noFill/>
        </p:spPr>
        <p:txBody>
          <a:bodyPr wrap="square" rtlCol="0">
            <a:spAutoFit/>
          </a:bodyPr>
          <a:lstStyle/>
          <a:p>
            <a:pPr marL="457200" indent="-457200" algn="just">
              <a:lnSpc>
                <a:spcPct val="150000"/>
              </a:lnSpc>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Xiao, B.; Wei, Y.; Bi, X.; Li, W.; Ma, J. Image splicing forgery detection combining coarse to refined convolutional neural network and adaptive clustering. Inf. Sci. 2020, 511, 172–191.</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Kwon, M.J.; Yu, I.J.; Nam, S.H.; Lee, H.K. CAT-Net: Compression Artifact Tracing Network for Detection and Localization of Image Splicing. In Proceedings of the 2021 IEEE Winter Conference on Applications of Computer Vision (WACV), Waikoloa, HI, USA, 5–9 January 2021; pp. 375–384.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Wu, Y.; Abd </a:t>
            </a:r>
            <a:r>
              <a:rPr lang="en-IN" sz="1600" dirty="0" err="1">
                <a:latin typeface="Times New Roman" panose="02020603050405020304" pitchFamily="18" charset="0"/>
                <a:cs typeface="Times New Roman" panose="02020603050405020304" pitchFamily="18" charset="0"/>
              </a:rPr>
              <a:t>Almageed</a:t>
            </a:r>
            <a:r>
              <a:rPr lang="en-IN" sz="1600" dirty="0">
                <a:latin typeface="Times New Roman" panose="02020603050405020304" pitchFamily="18" charset="0"/>
                <a:cs typeface="Times New Roman" panose="02020603050405020304" pitchFamily="18" charset="0"/>
              </a:rPr>
              <a:t>, W.; Natarajan, P. </a:t>
            </a:r>
            <a:r>
              <a:rPr lang="en-IN" sz="1600" dirty="0" err="1">
                <a:latin typeface="Times New Roman" panose="02020603050405020304" pitchFamily="18" charset="0"/>
                <a:cs typeface="Times New Roman" panose="02020603050405020304" pitchFamily="18" charset="0"/>
              </a:rPr>
              <a:t>ManTra</a:t>
            </a:r>
            <a:r>
              <a:rPr lang="en-IN" sz="1600" dirty="0">
                <a:latin typeface="Times New Roman" panose="02020603050405020304" pitchFamily="18" charset="0"/>
                <a:cs typeface="Times New Roman" panose="02020603050405020304" pitchFamily="18" charset="0"/>
              </a:rPr>
              <a:t>-Net: Manipulation Tracing Network for Detection and Localization of Image Forgeries With Anomalous Features. In Proceedings of the 2019 IEEE/CVF Conference on Computer Vision and Pattern Recognition (CVPR), Long Beach, CA, USA, 15–20 June 2019; pp. 9535–9544.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Zheng, L.; Zhang, Y.; Thing, V.L. A survey on image tampering and its detection in real-world photos. J. Vis. Commun. Image Represent. 2019, 58, 380–399.</a:t>
            </a: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59</TotalTime>
  <Words>2249</Words>
  <Application>Microsoft Office PowerPoint</Application>
  <PresentationFormat>Widescreen</PresentationFormat>
  <Paragraphs>237</Paragraphs>
  <Slides>31</Slides>
  <Notes>0</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31</vt:i4>
      </vt:variant>
    </vt:vector>
  </HeadingPairs>
  <TitlesOfParts>
    <vt:vector size="49" baseType="lpstr">
      <vt:lpstr>Algerian</vt:lpstr>
      <vt:lpstr>Arial</vt:lpstr>
      <vt:lpstr>Arial Narrow</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 ANNAMACHARYA INSTITUTE OF TECHNOLOGY AND SCIENCES::TIRUPATI (AUTONOMOUS)  DEPARTMENT OF ARTIFICIAL INTELLIGENCE A.Y.: 2024-2025  FINAL REVIEW [Academic year: 2024-25  *  Batch: 2021-25] </vt:lpstr>
      <vt:lpstr>                                 PROJECT TITLE</vt:lpstr>
      <vt:lpstr>ABSTRACT</vt:lpstr>
      <vt:lpstr>DOMAIN INTRODUCTION</vt:lpstr>
      <vt:lpstr>PowerPoint Presentation</vt:lpstr>
      <vt:lpstr>PowerPoint Presentation</vt:lpstr>
      <vt:lpstr>LITERATURE SURVEY</vt:lpstr>
      <vt:lpstr>PowerPoint Presentation</vt:lpstr>
      <vt:lpstr>MINIMUM SYSTEM REQUIREMENTS</vt:lpstr>
      <vt:lpstr>ANALYSIS AND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Priyanka P</cp:lastModifiedBy>
  <cp:revision>78</cp:revision>
  <dcterms:created xsi:type="dcterms:W3CDTF">2021-12-20T13:54:00Z</dcterms:created>
  <dcterms:modified xsi:type="dcterms:W3CDTF">2025-04-19T08:49:56Z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D6C2BF7C83214B34BB3299612F184312_13</vt:lpwstr>
  </property>
  <property fmtid="{D5CDD505-2E9C-101B-9397-08002B2CF9AE}" pid="3" name="KSOProductBuildVer">
    <vt:lpwstr>1033-12.2.0.19805</vt:lpwstr>
  </property>
</Properties>
</file>