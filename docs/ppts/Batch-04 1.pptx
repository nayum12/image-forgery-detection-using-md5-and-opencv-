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59" r:id="rId1"/>
    <p:sldMasterId id="2147483971" r:id="rId2"/>
    <p:sldMasterId id="2147483983" r:id="rId3"/>
    <p:sldMasterId id="2147483995" r:id="rId4"/>
    <p:sldMasterId id="2147484007" r:id="rId5"/>
  </p:sldMasterIdLst>
  <p:sldIdLst>
    <p:sldId id="272" r:id="rId6"/>
    <p:sldId id="304" r:id="rId7"/>
    <p:sldId id="258" r:id="rId8"/>
    <p:sldId id="265" r:id="rId9"/>
    <p:sldId id="268" r:id="rId10"/>
    <p:sldId id="269" r:id="rId11"/>
    <p:sldId id="261" r:id="rId12"/>
    <p:sldId id="267" r:id="rId13"/>
    <p:sldId id="264" r:id="rId14"/>
    <p:sldId id="274" r:id="rId15"/>
    <p:sldId id="276" r:id="rId16"/>
    <p:sldId id="277" r:id="rId17"/>
    <p:sldId id="278" r:id="rId18"/>
    <p:sldId id="270" r:id="rId19"/>
    <p:sldId id="283" r:id="rId20"/>
    <p:sldId id="284" r:id="rId21"/>
    <p:sldId id="285" r:id="rId22"/>
    <p:sldId id="286" r:id="rId23"/>
    <p:sldId id="279" r:id="rId24"/>
    <p:sldId id="301" r:id="rId25"/>
    <p:sldId id="266" r:id="rId26"/>
    <p:sldId id="26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ADEBE36-1FEA-4CF3-A146-3E39E42774FF}">
          <p14:sldIdLst>
            <p14:sldId id="272"/>
            <p14:sldId id="304"/>
            <p14:sldId id="258"/>
            <p14:sldId id="265"/>
          </p14:sldIdLst>
        </p14:section>
        <p14:section name="Untitled Section" id="{C76F125A-2BB8-4BE2-8EE5-064EEFEEDB36}">
          <p14:sldIdLst>
            <p14:sldId id="268"/>
            <p14:sldId id="269"/>
            <p14:sldId id="261"/>
            <p14:sldId id="267"/>
            <p14:sldId id="264"/>
            <p14:sldId id="274"/>
            <p14:sldId id="276"/>
            <p14:sldId id="277"/>
            <p14:sldId id="278"/>
            <p14:sldId id="270"/>
            <p14:sldId id="283"/>
            <p14:sldId id="284"/>
            <p14:sldId id="285"/>
            <p14:sldId id="286"/>
            <p14:sldId id="279"/>
            <p14:sldId id="301"/>
            <p14:sldId id="266"/>
            <p14:sldId id="26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584"/>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985"/>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749"/>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54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584"/>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985"/>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749"/>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54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584"/>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985"/>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749"/>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54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2/5/2025</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a:spLocks/>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a:spLocks/>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a:spLocks/>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a:spLocks/>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a:spLocks/>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a:spLocks/>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a:spLocks/>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a:spLocks/>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a:spLocks/>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a:spLocks/>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a:spLocks/>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a:spLocks/>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extLst/>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extLst/>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extLst/>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extLst/>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extLst/>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extLst/>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2/5/2025</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2/5/2025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2/5/2025</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extLst/>
          </a:lstStyle>
          <a:p>
            <a:fld id="{4AAD347D-5ACD-4C99-B74B-A9C85AD731AF}" type="datetimeFigureOut">
              <a:rPr lang="en-US" smtClean="0"/>
              <a:t>2/5/2025</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extLst/>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extLst/>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2/5/2025</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2/5/2025</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2/5/2025</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2/5/2025</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7" Type="http://schemas.openxmlformats.org/officeDocument/2006/relationships/customXml" Target="../ink/ink3.xml"/><Relationship Id="rId2" Type="http://schemas.openxmlformats.org/officeDocument/2006/relationships/customXml" Target="../ink/ink1.xml"/><Relationship Id="rId1" Type="http://schemas.openxmlformats.org/officeDocument/2006/relationships/slideLayout" Target="../slideLayouts/slideLayout46.xml"/><Relationship Id="rId6" Type="http://schemas.openxmlformats.org/officeDocument/2006/relationships/image" Target="../media/image10.png"/><Relationship Id="rId11" Type="http://schemas.openxmlformats.org/officeDocument/2006/relationships/image" Target="../media/image8.png"/><Relationship Id="rId5" Type="http://schemas.openxmlformats.org/officeDocument/2006/relationships/customXml" Target="../ink/ink2.xml"/><Relationship Id="rId10" Type="http://schemas.openxmlformats.org/officeDocument/2006/relationships/image" Target="../media/image12.png"/><Relationship Id="rId4" Type="http://schemas.openxmlformats.org/officeDocument/2006/relationships/image" Target="../media/image90.png"/><Relationship Id="rId9" Type="http://schemas.openxmlformats.org/officeDocument/2006/relationships/customXml" Target="../ink/ink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customXml" Target="../ink/ink5.xml"/><Relationship Id="rId1" Type="http://schemas.openxmlformats.org/officeDocument/2006/relationships/slideLayout" Target="../slideLayouts/slideLayout46.xml"/><Relationship Id="rId6" Type="http://schemas.openxmlformats.org/officeDocument/2006/relationships/customXml" Target="../ink/ink7.xml"/><Relationship Id="rId5" Type="http://schemas.openxmlformats.org/officeDocument/2006/relationships/image" Target="../media/image14.png"/><Relationship Id="rId10" Type="http://schemas.openxmlformats.org/officeDocument/2006/relationships/image" Target="../media/image16.png"/><Relationship Id="rId4" Type="http://schemas.openxmlformats.org/officeDocument/2006/relationships/customXml" Target="../ink/ink6.xml"/><Relationship Id="rId9" Type="http://schemas.openxmlformats.org/officeDocument/2006/relationships/image" Target="../media/image120.png"/></Relationships>
</file>

<file path=ppt/slides/_rels/slide16.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130.png"/><Relationship Id="rId7" Type="http://schemas.openxmlformats.org/officeDocument/2006/relationships/image" Target="../media/image150.png"/><Relationship Id="rId2" Type="http://schemas.openxmlformats.org/officeDocument/2006/relationships/customXml" Target="../ink/ink9.xml"/><Relationship Id="rId1" Type="http://schemas.openxmlformats.org/officeDocument/2006/relationships/slideLayout" Target="../slideLayouts/slideLayout46.xml"/><Relationship Id="rId6" Type="http://schemas.openxmlformats.org/officeDocument/2006/relationships/customXml" Target="../ink/ink11.xml"/><Relationship Id="rId5" Type="http://schemas.openxmlformats.org/officeDocument/2006/relationships/image" Target="../media/image140.png"/><Relationship Id="rId10" Type="http://schemas.openxmlformats.org/officeDocument/2006/relationships/image" Target="../media/image17.png"/><Relationship Id="rId4" Type="http://schemas.openxmlformats.org/officeDocument/2006/relationships/customXml" Target="../ink/ink10.xml"/><Relationship Id="rId9" Type="http://schemas.openxmlformats.org/officeDocument/2006/relationships/image" Target="../media/image121.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ITS-TPT">
            <a:extLst>
              <a:ext uri="{FF2B5EF4-FFF2-40B4-BE49-F238E27FC236}">
                <a16:creationId xmlns:a16="http://schemas.microsoft.com/office/drawing/2014/main" id="{0EA958BD-4E1E-8E02-BCD8-2C6F761C5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643" y="103376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CFBED2B2-3C3A-5D68-A33B-3C303B303CCA}"/>
              </a:ext>
            </a:extLst>
          </p:cNvPr>
          <p:cNvSpPr>
            <a:spLocks noGrp="1"/>
          </p:cNvSpPr>
          <p:nvPr>
            <p:ph type="ctrTitle"/>
          </p:nvPr>
        </p:nvSpPr>
        <p:spPr>
          <a:xfrm>
            <a:off x="140208" y="78964"/>
            <a:ext cx="11905612" cy="6700071"/>
          </a:xfrm>
          <a:ln w="12700">
            <a:solidFill>
              <a:schemeClr val="bg2">
                <a:lumMod val="50000"/>
              </a:schemeClr>
            </a:solidFill>
          </a:ln>
        </p:spPr>
        <p:txBody>
          <a:bodyPr>
            <a:normAutofit/>
          </a:bodyPr>
          <a:lstStyle/>
          <a:p>
            <a:pPr marL="182880" indent="0" algn="ctr">
              <a:buNone/>
            </a:pPr>
            <a:br>
              <a:rPr lang="en-US" sz="1600" dirty="0">
                <a:solidFill>
                  <a:srgbClr val="FF0000"/>
                </a:solidFill>
                <a:effectLst/>
              </a:rPr>
            </a:br>
            <a:r>
              <a:rPr lang="en-US" sz="2400" dirty="0">
                <a:solidFill>
                  <a:srgbClr val="FF0000"/>
                </a:solidFill>
                <a:effectLst/>
                <a:latin typeface="Times New Roman" panose="02020603050405020304" pitchFamily="18" charset="0"/>
                <a:cs typeface="Times New Roman" panose="02020603050405020304" pitchFamily="18" charset="0"/>
              </a:rPr>
              <a:t>ANNAMACHARYA INSTITUTE OF TECHNOLOGY AND SCIENCES::TIRUPATI</a:t>
            </a:r>
            <a:br>
              <a:rPr lang="en-US" sz="2400" b="1" dirty="0">
                <a:solidFill>
                  <a:srgbClr val="FF0000"/>
                </a:solidFill>
                <a:effectLst/>
              </a:rPr>
            </a:br>
            <a:r>
              <a:rPr lang="en-IN" sz="2400" b="1" dirty="0">
                <a:solidFill>
                  <a:srgbClr val="FF0000"/>
                </a:solidFill>
                <a:effectLst/>
                <a:latin typeface="Times New Roman" panose="02020603050405020304" pitchFamily="18" charset="0"/>
                <a:cs typeface="Times New Roman" panose="02020603050405020304" pitchFamily="18" charset="0"/>
              </a:rPr>
              <a:t>(AUTONOMOUS)</a:t>
            </a:r>
            <a:br>
              <a:rPr lang="en-IN" sz="2400" b="1" dirty="0">
                <a:solidFill>
                  <a:srgbClr val="FF0000"/>
                </a:solidFill>
                <a:effectLst/>
              </a:rPr>
            </a:br>
            <a:br>
              <a:rPr lang="en-IN" sz="2400" b="1" dirty="0">
                <a:solidFill>
                  <a:srgbClr val="FF0000"/>
                </a:solidFill>
                <a:effectLst/>
              </a:rPr>
            </a:br>
            <a:r>
              <a:rPr lang="en-IN" sz="2800" b="1" dirty="0">
                <a:solidFill>
                  <a:srgbClr val="0033CC"/>
                </a:solidFill>
                <a:effectLst/>
                <a:latin typeface="Times New Roman" panose="02020603050405020304" pitchFamily="18" charset="0"/>
                <a:cs typeface="Times New Roman" panose="02020603050405020304" pitchFamily="18" charset="0"/>
              </a:rPr>
              <a:t>D</a:t>
            </a:r>
            <a:r>
              <a:rPr lang="en-IN" sz="2800" dirty="0">
                <a:solidFill>
                  <a:srgbClr val="0033CC"/>
                </a:solidFill>
                <a:effectLst/>
                <a:latin typeface="Times New Roman" panose="02020603050405020304" pitchFamily="18" charset="0"/>
                <a:cs typeface="Times New Roman" panose="02020603050405020304" pitchFamily="18" charset="0"/>
              </a:rPr>
              <a:t>EPARTMENT OF ARTIFICIAL INTELLIGENCE</a:t>
            </a:r>
            <a:br>
              <a:rPr lang="en-IN" sz="2400" dirty="0">
                <a:solidFill>
                  <a:srgbClr val="0033CC"/>
                </a:solidFill>
                <a:effectLst/>
              </a:rPr>
            </a:br>
            <a:r>
              <a:rPr lang="en-IN" sz="2400" dirty="0">
                <a:effectLst/>
                <a:latin typeface="Times New Roman" panose="02020603050405020304" pitchFamily="18" charset="0"/>
                <a:cs typeface="Times New Roman" panose="02020603050405020304" pitchFamily="18" charset="0"/>
              </a:rPr>
              <a:t>A.Y.: 2024-2025</a:t>
            </a:r>
            <a:br>
              <a:rPr lang="en-IN" sz="2400" dirty="0">
                <a:effectLst/>
                <a:latin typeface="Algerian" pitchFamily="82" charset="0"/>
              </a:rPr>
            </a:br>
            <a:br>
              <a:rPr lang="en-IN" sz="2400" dirty="0">
                <a:solidFill>
                  <a:srgbClr val="0033CC"/>
                </a:solidFill>
                <a:effectLst/>
              </a:rPr>
            </a:br>
            <a:r>
              <a:rPr lang="en-IN" sz="3200" dirty="0">
                <a:solidFill>
                  <a:schemeClr val="accent1">
                    <a:lumMod val="75000"/>
                  </a:schemeClr>
                </a:solidFill>
                <a:effectLst/>
                <a:latin typeface="Times New Roman" panose="02020603050405020304" pitchFamily="18" charset="0"/>
                <a:cs typeface="Times New Roman" panose="02020603050405020304" pitchFamily="18" charset="0"/>
              </a:rPr>
              <a:t>FIRST R</a:t>
            </a:r>
            <a:r>
              <a:rPr lang="en-IN" sz="3200" b="1" dirty="0">
                <a:solidFill>
                  <a:schemeClr val="accent1">
                    <a:lumMod val="75000"/>
                  </a:schemeClr>
                </a:solidFill>
                <a:effectLst/>
                <a:latin typeface="Times New Roman" panose="02020603050405020304" pitchFamily="18" charset="0"/>
                <a:cs typeface="Times New Roman" panose="02020603050405020304" pitchFamily="18" charset="0"/>
              </a:rPr>
              <a:t>EVIEW</a:t>
            </a:r>
            <a:br>
              <a:rPr lang="en-IN" sz="2700" b="1" dirty="0">
                <a:solidFill>
                  <a:schemeClr val="accent1">
                    <a:lumMod val="75000"/>
                  </a:schemeClr>
                </a:solidFill>
                <a:effectLst/>
              </a:rPr>
            </a:br>
            <a:r>
              <a:rPr lang="en-IN" sz="2200" b="1" dirty="0">
                <a:solidFill>
                  <a:schemeClr val="accent1">
                    <a:lumMod val="75000"/>
                  </a:schemeClr>
                </a:solidFill>
                <a:effectLst/>
              </a:rPr>
              <a:t>[</a:t>
            </a:r>
            <a:r>
              <a:rPr lang="en-IN" sz="2200" dirty="0">
                <a:solidFill>
                  <a:srgbClr val="0033CC"/>
                </a:solidFill>
                <a:effectLst/>
                <a:latin typeface="Times New Roman" panose="02020603050405020304" pitchFamily="18" charset="0"/>
                <a:cs typeface="Times New Roman" panose="02020603050405020304" pitchFamily="18" charset="0"/>
              </a:rPr>
              <a:t>Academic year: 2024-25  *  Batch: 2021-25</a:t>
            </a:r>
            <a:r>
              <a:rPr lang="en-IN" sz="2200" dirty="0">
                <a:solidFill>
                  <a:srgbClr val="0033CC"/>
                </a:solidFill>
                <a:effectLst/>
              </a:rPr>
              <a:t>] </a:t>
            </a: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3" name="TextBox 5">
            <a:extLst>
              <a:ext uri="{FF2B5EF4-FFF2-40B4-BE49-F238E27FC236}">
                <a16:creationId xmlns:a16="http://schemas.microsoft.com/office/drawing/2014/main" id="{739A7B3E-D6E5-EB8B-C487-A1B7895B94D0}"/>
              </a:ext>
            </a:extLst>
          </p:cNvPr>
          <p:cNvSpPr txBox="1"/>
          <p:nvPr/>
        </p:nvSpPr>
        <p:spPr>
          <a:xfrm>
            <a:off x="590136" y="4294708"/>
            <a:ext cx="4660090" cy="1631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solidFill>
                  <a:srgbClr val="FF0000"/>
                </a:solidFill>
              </a:rPr>
              <a:t>Under the Guidance of</a:t>
            </a:r>
          </a:p>
          <a:p>
            <a:r>
              <a:rPr lang="en-US" sz="2000" b="1" dirty="0" err="1">
                <a:solidFill>
                  <a:srgbClr val="0033CC"/>
                </a:solidFill>
              </a:rPr>
              <a:t>Mrs</a:t>
            </a:r>
            <a:r>
              <a:rPr lang="en-US" sz="2000" b="1" dirty="0">
                <a:solidFill>
                  <a:srgbClr val="0033CC"/>
                </a:solidFill>
              </a:rPr>
              <a:t> </a:t>
            </a:r>
            <a:r>
              <a:rPr lang="en-US" sz="2000" b="1" dirty="0" err="1">
                <a:solidFill>
                  <a:srgbClr val="0033CC"/>
                </a:solidFill>
              </a:rPr>
              <a:t>K.Jagadeeswari</a:t>
            </a:r>
            <a:r>
              <a:rPr lang="en-US" sz="2000" b="1" dirty="0">
                <a:solidFill>
                  <a:srgbClr val="0033CC"/>
                </a:solidFill>
              </a:rPr>
              <a:t>, </a:t>
            </a:r>
            <a:r>
              <a:rPr lang="en-US" sz="2000" b="1" dirty="0" err="1">
                <a:solidFill>
                  <a:srgbClr val="0033CC"/>
                </a:solidFill>
              </a:rPr>
              <a:t>M.Tech</a:t>
            </a:r>
            <a:r>
              <a:rPr lang="en-GB" sz="2000" b="1" dirty="0">
                <a:solidFill>
                  <a:srgbClr val="0033CC"/>
                </a:solidFill>
              </a:rPr>
              <a:t>., (</a:t>
            </a:r>
            <a:r>
              <a:rPr lang="en-GB" sz="2000" b="1" dirty="0" err="1">
                <a:solidFill>
                  <a:srgbClr val="0033CC"/>
                </a:solidFill>
              </a:rPr>
              <a:t>Ph.D</a:t>
            </a:r>
            <a:r>
              <a:rPr lang="en-GB" sz="2000" b="1" dirty="0">
                <a:solidFill>
                  <a:srgbClr val="0033CC"/>
                </a:solidFill>
              </a:rPr>
              <a:t>)</a:t>
            </a:r>
          </a:p>
          <a:p>
            <a:r>
              <a:rPr lang="en-GB" sz="2000" b="1" dirty="0"/>
              <a:t>Assistant Professor</a:t>
            </a:r>
          </a:p>
          <a:p>
            <a:r>
              <a:rPr lang="en-GB" sz="2000" b="1" dirty="0"/>
              <a:t>Department of AI</a:t>
            </a:r>
          </a:p>
          <a:p>
            <a:r>
              <a:rPr lang="en-GB" sz="2000" b="1" dirty="0"/>
              <a:t>AITS, Tirupati.</a:t>
            </a:r>
            <a:endParaRPr lang="en-IN" sz="2000" b="1" dirty="0"/>
          </a:p>
        </p:txBody>
      </p:sp>
      <p:sp>
        <p:nvSpPr>
          <p:cNvPr id="5" name="TextBox 6">
            <a:extLst>
              <a:ext uri="{FF2B5EF4-FFF2-40B4-BE49-F238E27FC236}">
                <a16:creationId xmlns:a16="http://schemas.microsoft.com/office/drawing/2014/main" id="{06291950-CDEF-40F4-B5F2-0E2FDB884705}"/>
              </a:ext>
            </a:extLst>
          </p:cNvPr>
          <p:cNvSpPr txBox="1"/>
          <p:nvPr/>
        </p:nvSpPr>
        <p:spPr>
          <a:xfrm>
            <a:off x="7148254" y="4294708"/>
            <a:ext cx="4770782" cy="1631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solidFill>
                  <a:srgbClr val="FF0000"/>
                </a:solidFill>
              </a:rPr>
              <a:t>Head of the Department</a:t>
            </a:r>
          </a:p>
          <a:p>
            <a:r>
              <a:rPr lang="en-GB" sz="2000" b="1" dirty="0" err="1">
                <a:solidFill>
                  <a:srgbClr val="0033CC"/>
                </a:solidFill>
              </a:rPr>
              <a:t>Dr.</a:t>
            </a:r>
            <a:r>
              <a:rPr lang="en-GB" sz="2000" b="1" dirty="0">
                <a:solidFill>
                  <a:srgbClr val="0033CC"/>
                </a:solidFill>
              </a:rPr>
              <a:t> </a:t>
            </a:r>
            <a:r>
              <a:rPr lang="en-GB" sz="2000" b="1" dirty="0" err="1">
                <a:solidFill>
                  <a:srgbClr val="0033CC"/>
                </a:solidFill>
              </a:rPr>
              <a:t>C.Siva</a:t>
            </a:r>
            <a:r>
              <a:rPr lang="en-GB" sz="2000" b="1" dirty="0">
                <a:solidFill>
                  <a:srgbClr val="0033CC"/>
                </a:solidFill>
              </a:rPr>
              <a:t> Balaji Yadav, </a:t>
            </a:r>
            <a:r>
              <a:rPr lang="en-GB" sz="2000" b="1" dirty="0" err="1">
                <a:solidFill>
                  <a:srgbClr val="0033CC"/>
                </a:solidFill>
              </a:rPr>
              <a:t>M.Tech</a:t>
            </a:r>
            <a:r>
              <a:rPr lang="en-GB" sz="2000" b="1" dirty="0">
                <a:solidFill>
                  <a:srgbClr val="0033CC"/>
                </a:solidFill>
              </a:rPr>
              <a:t>., </a:t>
            </a:r>
            <a:r>
              <a:rPr lang="en-GB" sz="2000" b="1" dirty="0" err="1">
                <a:solidFill>
                  <a:srgbClr val="0033CC"/>
                </a:solidFill>
              </a:rPr>
              <a:t>Ph.D</a:t>
            </a:r>
            <a:endParaRPr lang="en-GB" sz="2000" b="1" dirty="0">
              <a:solidFill>
                <a:srgbClr val="0033CC"/>
              </a:solidFill>
            </a:endParaRPr>
          </a:p>
          <a:p>
            <a:r>
              <a:rPr lang="en-GB" sz="2000" b="1" dirty="0"/>
              <a:t>Associate Professor</a:t>
            </a:r>
          </a:p>
          <a:p>
            <a:r>
              <a:rPr lang="en-GB" sz="2000" b="1" dirty="0"/>
              <a:t>Department of AI</a:t>
            </a:r>
          </a:p>
          <a:p>
            <a:r>
              <a:rPr lang="en-GB" sz="2000" b="1" dirty="0"/>
              <a:t>AITS, Tirupati</a:t>
            </a:r>
            <a:endParaRPr lang="en-IN" sz="2000" b="1" dirty="0"/>
          </a:p>
        </p:txBody>
      </p:sp>
    </p:spTree>
    <p:extLst>
      <p:ext uri="{BB962C8B-B14F-4D97-AF65-F5344CB8AC3E}">
        <p14:creationId xmlns:p14="http://schemas.microsoft.com/office/powerpoint/2010/main" val="309520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637" y="305128"/>
            <a:ext cx="11908662" cy="690552"/>
          </a:xfrm>
          <a:ln>
            <a:solidFill>
              <a:schemeClr val="bg2">
                <a:lumMod val="50000"/>
              </a:schemeClr>
            </a:solidFill>
          </a:ln>
        </p:spPr>
        <p:txBody>
          <a:bodyPr>
            <a:normAutofit/>
          </a:bodyPr>
          <a:lstStyle/>
          <a:p>
            <a:pPr marL="0" indent="0" algn="l">
              <a:buNone/>
              <a:tabLst>
                <a:tab pos="355600" algn="l"/>
              </a:tabLst>
            </a:pPr>
            <a:r>
              <a:rPr lang="en-US" sz="3200" dirty="0">
                <a:solidFill>
                  <a:srgbClr val="6666FF"/>
                </a:solidFill>
              </a:rPr>
              <a:t>	                                </a:t>
            </a:r>
            <a:r>
              <a:rPr lang="en-US" sz="3200" dirty="0">
                <a:solidFill>
                  <a:srgbClr val="0070C0"/>
                </a:solidFill>
              </a:rPr>
              <a:t>PROJECT TITLE</a:t>
            </a:r>
            <a:endParaRPr lang="en-IN" sz="3200" b="1" dirty="0">
              <a:solidFill>
                <a:srgbClr val="0070C0"/>
              </a:solidFill>
            </a:endParaRPr>
          </a:p>
        </p:txBody>
      </p:sp>
      <p:sp>
        <p:nvSpPr>
          <p:cNvPr id="6" name="Title 1">
            <a:extLst>
              <a:ext uri="{FF2B5EF4-FFF2-40B4-BE49-F238E27FC236}">
                <a16:creationId xmlns:a16="http://schemas.microsoft.com/office/drawing/2014/main" id="{ACD45F4D-0C07-B789-4243-FFE0A7EE043A}"/>
              </a:ext>
            </a:extLst>
          </p:cNvPr>
          <p:cNvSpPr txBox="1">
            <a:spLocks/>
          </p:cNvSpPr>
          <p:nvPr/>
        </p:nvSpPr>
        <p:spPr>
          <a:xfrm>
            <a:off x="102637" y="317241"/>
            <a:ext cx="11908661" cy="6438122"/>
          </a:xfrm>
          <a:prstGeom prst="rect">
            <a:avLst/>
          </a:prstGeom>
          <a:ln w="12700">
            <a:solidFill>
              <a:schemeClr val="bg2">
                <a:lumMod val="50000"/>
              </a:schemeClr>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82880" indent="0" algn="ctr">
              <a:buFont typeface="Georgia" pitchFamily="18" charset="0"/>
              <a:buNone/>
            </a:pPr>
            <a:br>
              <a:rPr lang="en-US" sz="1600" dirty="0">
                <a:solidFill>
                  <a:srgbClr val="FF0000"/>
                </a:solidFill>
                <a:effectLst/>
              </a:rPr>
            </a:b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5" name="TextBox 4">
            <a:extLst>
              <a:ext uri="{FF2B5EF4-FFF2-40B4-BE49-F238E27FC236}">
                <a16:creationId xmlns:a16="http://schemas.microsoft.com/office/drawing/2014/main" id="{5C917866-B25F-62C6-60AA-4BF85A1CAE37}"/>
              </a:ext>
            </a:extLst>
          </p:cNvPr>
          <p:cNvSpPr txBox="1"/>
          <p:nvPr/>
        </p:nvSpPr>
        <p:spPr>
          <a:xfrm>
            <a:off x="2649057" y="3618430"/>
            <a:ext cx="6893886" cy="200054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t>  		</a:t>
            </a:r>
            <a:r>
              <a:rPr lang="en-GB" sz="2400" b="1" dirty="0">
                <a:solidFill>
                  <a:srgbClr val="FF0000"/>
                </a:solidFill>
              </a:rPr>
              <a:t>AIDS-1</a:t>
            </a:r>
            <a:r>
              <a:rPr lang="en-GB" sz="2000" b="1" dirty="0">
                <a:solidFill>
                  <a:srgbClr val="FF0000"/>
                </a:solidFill>
              </a:rPr>
              <a:t>- </a:t>
            </a:r>
            <a:r>
              <a:rPr lang="en-GB" sz="2400" b="1" dirty="0">
                <a:solidFill>
                  <a:srgbClr val="FF0000"/>
                </a:solidFill>
              </a:rPr>
              <a:t>BATCH NO: 04</a:t>
            </a:r>
          </a:p>
          <a:p>
            <a:endParaRPr lang="en-GB" sz="2000" b="1" dirty="0">
              <a:solidFill>
                <a:schemeClr val="accent6"/>
              </a:solidFill>
            </a:endParaRPr>
          </a:p>
          <a:p>
            <a:pPr algn="just"/>
            <a:r>
              <a:rPr lang="en-US" sz="2000" b="1" dirty="0"/>
              <a:t>21AK1A3033  		            P.LAKSHMI PRIYANKA</a:t>
            </a:r>
          </a:p>
          <a:p>
            <a:pPr algn="just"/>
            <a:r>
              <a:rPr lang="en-US" sz="2000" b="1" dirty="0"/>
              <a:t>21AK1A3017 		            V. GANESH</a:t>
            </a:r>
          </a:p>
          <a:p>
            <a:pPr algn="just"/>
            <a:r>
              <a:rPr lang="en-US" sz="2000" b="1" dirty="0"/>
              <a:t>21AK1A3051			      M.NAYUM BASHA</a:t>
            </a:r>
          </a:p>
          <a:p>
            <a:r>
              <a:rPr lang="en-US" sz="2000" b="1" dirty="0"/>
              <a:t>21AK1A3037 			      B.MAMATHA</a:t>
            </a:r>
            <a:endParaRPr lang="en-IN" sz="2000" b="1" dirty="0"/>
          </a:p>
        </p:txBody>
      </p:sp>
      <p:sp>
        <p:nvSpPr>
          <p:cNvPr id="7" name="Text Box 5">
            <a:extLst>
              <a:ext uri="{FF2B5EF4-FFF2-40B4-BE49-F238E27FC236}">
                <a16:creationId xmlns:a16="http://schemas.microsoft.com/office/drawing/2014/main" id="{0DB2A2D6-01D8-336F-BBD3-DEB79D03BFAF}"/>
              </a:ext>
            </a:extLst>
          </p:cNvPr>
          <p:cNvSpPr txBox="1">
            <a:spLocks noChangeArrowheads="1"/>
          </p:cNvSpPr>
          <p:nvPr/>
        </p:nvSpPr>
        <p:spPr bwMode="auto">
          <a:xfrm>
            <a:off x="1588061" y="2084895"/>
            <a:ext cx="8937812" cy="1018319"/>
          </a:xfrm>
          <a:prstGeom prst="rect">
            <a:avLst/>
          </a:prstGeom>
          <a:noFill/>
          <a:ln w="9525">
            <a:solidFill>
              <a:srgbClr val="3465A4"/>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IN" b="1" dirty="0">
                <a:latin typeface="Times New Roman" panose="02020603050405020304" pitchFamily="18" charset="0"/>
                <a:cs typeface="Times New Roman" panose="02020603050405020304" pitchFamily="18" charset="0"/>
              </a:rPr>
              <a:t>Image Forgery detection using MD5 and openCV</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274443"/>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ABSTRACT</a:t>
            </a:r>
            <a:endParaRPr lang="en-IN" sz="3200" b="1" dirty="0">
              <a:solidFill>
                <a:srgbClr val="6666FF"/>
              </a:solidFill>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fontScale="92500"/>
          </a:bodyPr>
          <a:lstStyle/>
          <a:p>
            <a:pPr marL="4572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45720" indent="0" algn="just">
              <a:lnSpc>
                <a:spcPct val="150000"/>
              </a:lnSpc>
              <a:buNone/>
            </a:pPr>
            <a:r>
              <a:rPr lang="en-IN" sz="1800" dirty="0">
                <a:latin typeface="Times New Roman" panose="02020603050405020304" pitchFamily="18" charset="0"/>
                <a:cs typeface="Times New Roman" panose="02020603050405020304" pitchFamily="18" charset="0"/>
              </a:rPr>
              <a:t>Because cameras are so widely accessible, taking pictures has grown in popularity recently. Photos are crucial to our everyday lives since they are replete with information, and it is sometimes necessary to improve images in order to get more information. Although there are many technologies available to enhance picture quality, they are also regularly used to alter photos, which leads to the dissemination of false information. This makes picture forgeries more severe and frequent, which is now a major cause of worry. To identify fake images, several conventional methods have been developed over time.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 have drawn a lot of interest in recent years, and they have also had an impact on the area of picture fraud detection. However, the majority of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-based picture forgery detection methods currently used in the literature are restricted to identifying a certain kind of fraud (either image splicing or copy-move). Therefore, it is necessary to develop a method that can quickly and precisely identify any hidden forgeries in an image. In the context of double image compression, we describe in this study a robust deep learning-based approach for detecting picture forgeries.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 indent="0" algn="just">
              <a:lnSpc>
                <a:spcPct val="150000"/>
              </a:lnSpc>
              <a:buNone/>
            </a:pPr>
            <a:endParaRPr lang="en-US" sz="18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5035448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DOMAIN INTRODUCTION</a:t>
            </a:r>
            <a:endParaRPr lang="en-IN" sz="3200" b="1" dirty="0">
              <a:solidFill>
                <a:srgbClr val="6666FF"/>
              </a:solidFill>
            </a:endParaRPr>
          </a:p>
        </p:txBody>
      </p:sp>
      <p:sp>
        <p:nvSpPr>
          <p:cNvPr id="5" name="Rectangle 2">
            <a:extLst>
              <a:ext uri="{FF2B5EF4-FFF2-40B4-BE49-F238E27FC236}">
                <a16:creationId xmlns:a16="http://schemas.microsoft.com/office/drawing/2014/main" id="{B2CBBA91-CA19-A91B-F6D6-638E103EFAEE}"/>
              </a:ext>
            </a:extLst>
          </p:cNvPr>
          <p:cNvSpPr>
            <a:spLocks noGrp="1" noChangeArrowheads="1"/>
          </p:cNvSpPr>
          <p:nvPr>
            <p:ph sz="quarter" idx="13"/>
          </p:nvPr>
        </p:nvSpPr>
        <p:spPr bwMode="auto">
          <a:xfrm>
            <a:off x="738957" y="1634664"/>
            <a:ext cx="11218460" cy="448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forgery involves manipulation techniques like splicing, cloning, and retouching to alter the content of digital images.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Detecting forgeries is crucial in fields such as journalism, law enforcement, and digital security to ensure authenticity and reliability.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provides essential tools for image processing, feature extraction, and pattern recognition, aiding in the detection of forged regions.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MD5 hashing generates unique hash values for images, allowing comparison and detection of tampering through hash mismatches.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detection techniques include error level analysis, pixel-level feature analysis, and identifying inconsistencies in image artifacts.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 range from verifying digital evidence to authenticating social media content and combating misinformation.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this domain include detecting forgeries in low-resolution images, addressing advanced editing techniques, and countering adversarial manipulations.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868452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25B995-D891-C550-E537-E200AEF1AD6D}"/>
              </a:ext>
            </a:extLst>
          </p:cNvPr>
          <p:cNvSpPr txBox="1"/>
          <p:nvPr/>
        </p:nvSpPr>
        <p:spPr>
          <a:xfrm>
            <a:off x="2147455" y="805934"/>
            <a:ext cx="8118764" cy="369332"/>
          </a:xfrm>
          <a:prstGeom prst="rect">
            <a:avLst/>
          </a:prstGeom>
          <a:noFill/>
        </p:spPr>
        <p:txBody>
          <a:bodyPr wrap="square">
            <a:spAutoFit/>
          </a:bodyPr>
          <a:lstStyle/>
          <a:p>
            <a:pPr algn="ctr"/>
            <a:r>
              <a:rPr lang="en-US" sz="1800" b="1" dirty="0">
                <a:solidFill>
                  <a:srgbClr val="6666FF"/>
                </a:solidFill>
              </a:rPr>
              <a:t>EXISTING </a:t>
            </a:r>
            <a:r>
              <a:rPr lang="en-US" b="1" dirty="0">
                <a:solidFill>
                  <a:srgbClr val="6666FF"/>
                </a:solidFill>
              </a:rPr>
              <a:t>SYSTEM </a:t>
            </a:r>
            <a:endParaRPr lang="en-IN" dirty="0"/>
          </a:p>
        </p:txBody>
      </p:sp>
      <p:sp>
        <p:nvSpPr>
          <p:cNvPr id="8" name="TextBox 7">
            <a:extLst>
              <a:ext uri="{FF2B5EF4-FFF2-40B4-BE49-F238E27FC236}">
                <a16:creationId xmlns:a16="http://schemas.microsoft.com/office/drawing/2014/main" id="{66C79659-6D7C-ADBE-B3C4-4106B93B6B13}"/>
              </a:ext>
            </a:extLst>
          </p:cNvPr>
          <p:cNvSpPr txBox="1"/>
          <p:nvPr/>
        </p:nvSpPr>
        <p:spPr>
          <a:xfrm>
            <a:off x="4237219" y="2720293"/>
            <a:ext cx="3960893" cy="646331"/>
          </a:xfrm>
          <a:prstGeom prst="rect">
            <a:avLst/>
          </a:prstGeom>
          <a:noFill/>
        </p:spPr>
        <p:txBody>
          <a:bodyPr wrap="square" rtlCol="0">
            <a:spAutoFit/>
          </a:bodyPr>
          <a:lstStyle/>
          <a:p>
            <a:pPr algn="ctr"/>
            <a:r>
              <a:rPr lang="en-US" sz="1800" b="1" dirty="0">
                <a:solidFill>
                  <a:srgbClr val="6666FF"/>
                </a:solidFill>
              </a:rPr>
              <a:t>DIS ADVANTAGES EXISTING </a:t>
            </a:r>
            <a:r>
              <a:rPr lang="en-US" b="1" dirty="0">
                <a:solidFill>
                  <a:srgbClr val="6666FF"/>
                </a:solidFill>
              </a:rPr>
              <a:t>SYSTEM </a:t>
            </a:r>
            <a:endParaRPr lang="en-IN" dirty="0"/>
          </a:p>
          <a:p>
            <a:endParaRPr lang="en-IN" dirty="0"/>
          </a:p>
        </p:txBody>
      </p:sp>
      <p:sp>
        <p:nvSpPr>
          <p:cNvPr id="2" name="TextBox 1">
            <a:extLst>
              <a:ext uri="{FF2B5EF4-FFF2-40B4-BE49-F238E27FC236}">
                <a16:creationId xmlns:a16="http://schemas.microsoft.com/office/drawing/2014/main" id="{17510D5C-0A56-6912-81E9-EEB377A5DEFE}"/>
              </a:ext>
            </a:extLst>
          </p:cNvPr>
          <p:cNvSpPr txBox="1"/>
          <p:nvPr/>
        </p:nvSpPr>
        <p:spPr>
          <a:xfrm>
            <a:off x="815789" y="1225036"/>
            <a:ext cx="10803755" cy="786754"/>
          </a:xfrm>
          <a:prstGeom prst="rect">
            <a:avLst/>
          </a:prstGeom>
          <a:noFill/>
        </p:spPr>
        <p:txBody>
          <a:bodyPr wrap="square" rtlCol="0">
            <a:spAutoFit/>
          </a:bodyPr>
          <a:lstStyle/>
          <a:p>
            <a:pPr marL="0" indent="0" algn="just">
              <a:lnSpc>
                <a:spcPct val="150000"/>
              </a:lnSpc>
              <a:spcAft>
                <a:spcPts val="800"/>
              </a:spcAft>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early days, to detect the forgery of images is a complex thing. It requires more manual power and it’s a time taking process. There is no accurate detection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F85E0740-52F5-1579-8AB9-E8747351C995}"/>
              </a:ext>
            </a:extLst>
          </p:cNvPr>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Time </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taking</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Low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igh computational cost</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Lack of Robustness</a:t>
            </a:r>
          </a:p>
          <a:p>
            <a:pPr marL="285750" indent="-285750" algn="just">
              <a:lnSpc>
                <a:spcPct val="150000"/>
              </a:lnSpc>
              <a:spcAft>
                <a:spcPts val="8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Inability to Handle Advanced Forgery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6899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4EFD5-3403-FF62-4B0A-B8310A6A64A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224396-1258-E5AE-7ECE-9C127B5A4664}"/>
              </a:ext>
            </a:extLst>
          </p:cNvPr>
          <p:cNvSpPr txBox="1"/>
          <p:nvPr/>
        </p:nvSpPr>
        <p:spPr>
          <a:xfrm>
            <a:off x="2147455" y="805934"/>
            <a:ext cx="8118764" cy="369332"/>
          </a:xfrm>
          <a:prstGeom prst="rect">
            <a:avLst/>
          </a:prstGeom>
          <a:noFill/>
        </p:spPr>
        <p:txBody>
          <a:bodyPr wrap="square">
            <a:spAutoFit/>
          </a:bodyPr>
          <a:lstStyle/>
          <a:p>
            <a:pPr algn="ctr"/>
            <a:r>
              <a:rPr lang="en-US" b="1" dirty="0">
                <a:solidFill>
                  <a:srgbClr val="6666FF"/>
                </a:solidFill>
              </a:rPr>
              <a:t>PROPOSED</a:t>
            </a:r>
            <a:r>
              <a:rPr lang="en-US" sz="1800" b="1" dirty="0">
                <a:solidFill>
                  <a:srgbClr val="6666FF"/>
                </a:solidFill>
              </a:rPr>
              <a:t> </a:t>
            </a:r>
            <a:r>
              <a:rPr lang="en-US" b="1" dirty="0">
                <a:solidFill>
                  <a:srgbClr val="6666FF"/>
                </a:solidFill>
              </a:rPr>
              <a:t>SYSTEM </a:t>
            </a:r>
            <a:endParaRPr lang="en-IN" dirty="0"/>
          </a:p>
        </p:txBody>
      </p:sp>
      <p:sp>
        <p:nvSpPr>
          <p:cNvPr id="8" name="TextBox 7">
            <a:extLst>
              <a:ext uri="{FF2B5EF4-FFF2-40B4-BE49-F238E27FC236}">
                <a16:creationId xmlns:a16="http://schemas.microsoft.com/office/drawing/2014/main" id="{B67CA138-7163-ABAC-BA62-FE15F62D41D0}"/>
              </a:ext>
            </a:extLst>
          </p:cNvPr>
          <p:cNvSpPr txBox="1"/>
          <p:nvPr/>
        </p:nvSpPr>
        <p:spPr>
          <a:xfrm>
            <a:off x="4237219" y="2720293"/>
            <a:ext cx="3960893" cy="923330"/>
          </a:xfrm>
          <a:prstGeom prst="rect">
            <a:avLst/>
          </a:prstGeom>
          <a:noFill/>
        </p:spPr>
        <p:txBody>
          <a:bodyPr wrap="square" rtlCol="0">
            <a:spAutoFit/>
          </a:bodyPr>
          <a:lstStyle/>
          <a:p>
            <a:pPr algn="ctr"/>
            <a:r>
              <a:rPr lang="en-US" sz="1800" b="1" dirty="0">
                <a:solidFill>
                  <a:srgbClr val="6666FF"/>
                </a:solidFill>
              </a:rPr>
              <a:t>ADVANTAGES OF </a:t>
            </a:r>
            <a:r>
              <a:rPr lang="en-US" b="1" dirty="0">
                <a:solidFill>
                  <a:srgbClr val="6666FF"/>
                </a:solidFill>
              </a:rPr>
              <a:t>PROPOSED</a:t>
            </a:r>
            <a:r>
              <a:rPr lang="en-US" sz="1800" b="1" dirty="0">
                <a:solidFill>
                  <a:srgbClr val="6666FF"/>
                </a:solidFill>
              </a:rPr>
              <a:t> </a:t>
            </a:r>
            <a:r>
              <a:rPr lang="en-US" b="1" dirty="0">
                <a:solidFill>
                  <a:srgbClr val="6666FF"/>
                </a:solidFill>
              </a:rPr>
              <a:t>SYSTEM</a:t>
            </a:r>
            <a:endParaRPr lang="en-IN" dirty="0"/>
          </a:p>
          <a:p>
            <a:endParaRPr lang="en-IN" dirty="0"/>
          </a:p>
        </p:txBody>
      </p:sp>
      <p:sp>
        <p:nvSpPr>
          <p:cNvPr id="2" name="TextBox 1">
            <a:extLst>
              <a:ext uri="{FF2B5EF4-FFF2-40B4-BE49-F238E27FC236}">
                <a16:creationId xmlns:a16="http://schemas.microsoft.com/office/drawing/2014/main" id="{FDC51109-721A-B9BC-92EB-92DF0353D6FE}"/>
              </a:ext>
            </a:extLst>
          </p:cNvPr>
          <p:cNvSpPr txBox="1"/>
          <p:nvPr/>
        </p:nvSpPr>
        <p:spPr>
          <a:xfrm>
            <a:off x="815789" y="1225036"/>
            <a:ext cx="10803755" cy="786754"/>
          </a:xfrm>
          <a:prstGeom prst="rect">
            <a:avLst/>
          </a:prstGeom>
          <a:noFill/>
        </p:spPr>
        <p:txBody>
          <a:bodyPr wrap="square" rtlCol="0">
            <a:spAutoFit/>
          </a:bodyPr>
          <a:lstStyle/>
          <a:p>
            <a:pPr marL="0" indent="0" algn="just">
              <a:lnSpc>
                <a:spcPct val="150000"/>
              </a:lnSpc>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this proposed method, we are using deep learning methods to detect the image forgery. We can detect the image forgery with high accuracy by using </a:t>
            </a:r>
            <a:r>
              <a:rPr lang="en-US" sz="1600" dirty="0" err="1">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openCV</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and MD5 methods. MD5 gives the better performance in image detection.</a:t>
            </a:r>
          </a:p>
        </p:txBody>
      </p:sp>
      <p:sp>
        <p:nvSpPr>
          <p:cNvPr id="3" name="TextBox 2">
            <a:extLst>
              <a:ext uri="{FF2B5EF4-FFF2-40B4-BE49-F238E27FC236}">
                <a16:creationId xmlns:a16="http://schemas.microsoft.com/office/drawing/2014/main" id="{949ABC81-36E1-D4A8-5609-70EBC98D19AB}"/>
              </a:ext>
            </a:extLst>
          </p:cNvPr>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Requires less time</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High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Better adaptability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Efficient and Scalable</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Robust forgery</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detection</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4269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580" y="207985"/>
            <a:ext cx="9286993" cy="619329"/>
          </a:xfrm>
        </p:spPr>
        <p:txBody>
          <a:bodyPr>
            <a:normAutofit/>
          </a:bodyPr>
          <a:lstStyle/>
          <a:p>
            <a:pPr marL="0" indent="0" algn="ctr">
              <a:buNone/>
            </a:pPr>
            <a:r>
              <a:rPr lang="en-IN" sz="3200" b="1" dirty="0">
                <a:solidFill>
                  <a:srgbClr val="6666FF"/>
                </a:solidFill>
              </a:rPr>
              <a:t>LITERATURE SURVEY</a:t>
            </a:r>
          </a:p>
        </p:txBody>
      </p:sp>
      <p:graphicFrame>
        <p:nvGraphicFramePr>
          <p:cNvPr id="4" name="Table 3"/>
          <p:cNvGraphicFramePr>
            <a:graphicFrameLocks noGrp="1"/>
          </p:cNvGraphicFramePr>
          <p:nvPr>
            <p:extLst>
              <p:ext uri="{D42A27DB-BD31-4B8C-83A1-F6EECF244321}">
                <p14:modId xmlns:p14="http://schemas.microsoft.com/office/powerpoint/2010/main" val="3967663719"/>
              </p:ext>
            </p:extLst>
          </p:nvPr>
        </p:nvGraphicFramePr>
        <p:xfrm>
          <a:off x="132550" y="978434"/>
          <a:ext cx="11926899" cy="5779158"/>
        </p:xfrm>
        <a:graphic>
          <a:graphicData uri="http://schemas.openxmlformats.org/drawingml/2006/table">
            <a:tbl>
              <a:tblPr firstRow="1" bandRow="1">
                <a:tableStyleId>{5C22544A-7EE6-4342-B048-85BDC9FD1C3A}</a:tableStyleId>
              </a:tblPr>
              <a:tblGrid>
                <a:gridCol w="808744">
                  <a:extLst>
                    <a:ext uri="{9D8B030D-6E8A-4147-A177-3AD203B41FA5}">
                      <a16:colId xmlns:a16="http://schemas.microsoft.com/office/drawing/2014/main" val="20000"/>
                    </a:ext>
                  </a:extLst>
                </a:gridCol>
                <a:gridCol w="2053697">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gridCol w="1634608">
                  <a:extLst>
                    <a:ext uri="{9D8B030D-6E8A-4147-A177-3AD203B41FA5}">
                      <a16:colId xmlns:a16="http://schemas.microsoft.com/office/drawing/2014/main" val="20004"/>
                    </a:ext>
                  </a:extLst>
                </a:gridCol>
                <a:gridCol w="2553050">
                  <a:extLst>
                    <a:ext uri="{9D8B030D-6E8A-4147-A177-3AD203B41FA5}">
                      <a16:colId xmlns:a16="http://schemas.microsoft.com/office/drawing/2014/main" val="20005"/>
                    </a:ext>
                  </a:extLst>
                </a:gridCol>
              </a:tblGrid>
              <a:tr h="944718">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601282">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Image splicing forgery detection combining coarse to refined convolutional neural network and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paper proposes a splicing forgery detection method with two parts: a coarse-to-refined convolutional neural network (C2RNet) and diluted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b="0" dirty="0">
                          <a:latin typeface="Times New Roman" panose="02020603050405020304" pitchFamily="18" charset="0"/>
                          <a:cs typeface="Times New Roman" panose="02020603050405020304" pitchFamily="18" charset="0"/>
                        </a:rPr>
                        <a:t>Coarse-to-Refined Convolutional Neural Network (CNN),</a:t>
                      </a:r>
                    </a:p>
                    <a:p>
                      <a:pPr algn="l"/>
                      <a:r>
                        <a:rPr lang="en-US" sz="1600" b="0" dirty="0">
                          <a:latin typeface="Times New Roman" panose="02020603050405020304" pitchFamily="18" charset="0"/>
                          <a:cs typeface="Times New Roman" panose="02020603050405020304" pitchFamily="18" charset="0"/>
                        </a:rPr>
                        <a:t>Adaptive Clustering</a:t>
                      </a:r>
                    </a:p>
                  </a:txBody>
                  <a:tcPr/>
                </a:tc>
                <a:tc>
                  <a:txBody>
                    <a:bodyPr/>
                    <a:lstStyle/>
                    <a:p>
                      <a:pPr algn="l"/>
                      <a:r>
                        <a:rPr lang="en-US" sz="1600" dirty="0">
                          <a:latin typeface="Times New Roman" panose="02020603050405020304" pitchFamily="18" charset="0"/>
                          <a:cs typeface="Times New Roman" panose="02020603050405020304" pitchFamily="18" charset="0"/>
                        </a:rPr>
                        <a:t>2020</a:t>
                      </a:r>
                    </a:p>
                    <a:p>
                      <a:pPr algn="l"/>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Xiao, B.; Wei, Y.; Bi, X.; Li, W.; Ma, J</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33158">
                <a:tc>
                  <a:txBody>
                    <a:bodyPr/>
                    <a:lstStyle/>
                    <a:p>
                      <a:pPr algn="ctr"/>
                      <a:r>
                        <a:rPr lang="en-US" sz="1600" dirty="0">
                          <a:latin typeface="Times New Roman" panose="02020603050405020304" pitchFamily="18" charset="0"/>
                          <a:cs typeface="Times New Roman" panose="02020603050405020304" pitchFamily="18" charset="0"/>
                        </a:rPr>
                        <a:t>2.</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CAT-Net: Compression Artifact Tracing Network for Detection and Localization of Image Splicing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Detecting and localizing image splicing has become essential to fight against malicious forgery</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Autoencoders,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Feature fusion</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2021</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WACV)</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M.J.; Yu, I.J.; Nam, S.H</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60434593"/>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143557817"/>
              </p:ext>
            </p:extLst>
          </p:nvPr>
        </p:nvGraphicFramePr>
        <p:xfrm>
          <a:off x="107575" y="463826"/>
          <a:ext cx="11949955" cy="5446645"/>
        </p:xfrm>
        <a:graphic>
          <a:graphicData uri="http://schemas.openxmlformats.org/drawingml/2006/table">
            <a:tbl>
              <a:tblPr firstRow="1" bandRow="1">
                <a:tableStyleId>{5C22544A-7EE6-4342-B048-85BDC9FD1C3A}</a:tableStyleId>
              </a:tblPr>
              <a:tblGrid>
                <a:gridCol w="691366">
                  <a:extLst>
                    <a:ext uri="{9D8B030D-6E8A-4147-A177-3AD203B41FA5}">
                      <a16:colId xmlns:a16="http://schemas.microsoft.com/office/drawing/2014/main" val="20000"/>
                    </a:ext>
                  </a:extLst>
                </a:gridCol>
                <a:gridCol w="2169546">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570922">
                  <a:extLst>
                    <a:ext uri="{9D8B030D-6E8A-4147-A177-3AD203B41FA5}">
                      <a16:colId xmlns:a16="http://schemas.microsoft.com/office/drawing/2014/main" val="20003"/>
                    </a:ext>
                  </a:extLst>
                </a:gridCol>
                <a:gridCol w="1917375">
                  <a:extLst>
                    <a:ext uri="{9D8B030D-6E8A-4147-A177-3AD203B41FA5}">
                      <a16:colId xmlns:a16="http://schemas.microsoft.com/office/drawing/2014/main" val="20004"/>
                    </a:ext>
                  </a:extLst>
                </a:gridCol>
                <a:gridCol w="2467146">
                  <a:extLst>
                    <a:ext uri="{9D8B030D-6E8A-4147-A177-3AD203B41FA5}">
                      <a16:colId xmlns:a16="http://schemas.microsoft.com/office/drawing/2014/main" val="20005"/>
                    </a:ext>
                  </a:extLst>
                </a:gridCol>
              </a:tblGrid>
              <a:tr h="978385">
                <a:tc>
                  <a:txBody>
                    <a:bodyPr/>
                    <a:lstStyle/>
                    <a:p>
                      <a:r>
                        <a:rPr lang="en-US" dirty="0" err="1"/>
                        <a:t>S.No</a:t>
                      </a:r>
                      <a:endParaRPr lang="en-US" dirty="0"/>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316419">
                <a:tc>
                  <a:txBody>
                    <a:bodyPr/>
                    <a:lstStyle/>
                    <a:p>
                      <a:pPr algn="ctr"/>
                      <a:r>
                        <a:rPr lang="en-US" sz="1600" dirty="0">
                          <a:latin typeface="Times New Roman" panose="02020603050405020304" pitchFamily="18" charset="0"/>
                          <a:cs typeface="Times New Roman" panose="02020603050405020304" pitchFamily="18" charset="0"/>
                        </a:rPr>
                        <a:t>3.</a:t>
                      </a:r>
                    </a:p>
                  </a:txBody>
                  <a:tcPr/>
                </a:tc>
                <a:tc>
                  <a:txBody>
                    <a:bodyPr/>
                    <a:lstStyle/>
                    <a:p>
                      <a:pPr algn="l"/>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ManTra</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-Net: Manipulation Tracing Network for Detection and Localization of Image Forgeries With Anomalous Features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To fight against real-life image forgery, which commonly involves different types and combined manipulations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Anomaly Detection, </a:t>
                      </a:r>
                    </a:p>
                    <a:p>
                      <a:pPr algn="l"/>
                      <a:r>
                        <a:rPr lang="en-US" sz="1600" dirty="0">
                          <a:latin typeface="Times New Roman" panose="02020603050405020304" pitchFamily="18" charset="0"/>
                          <a:cs typeface="Times New Roman" panose="02020603050405020304" pitchFamily="18" charset="0"/>
                        </a:rPr>
                        <a:t>Pixel-wise Classification</a:t>
                      </a:r>
                    </a:p>
                  </a:txBody>
                  <a:tcPr/>
                </a:tc>
                <a:tc>
                  <a:txBody>
                    <a:bodyPr/>
                    <a:lstStyle/>
                    <a:p>
                      <a:pPr algn="l"/>
                      <a:r>
                        <a:rPr lang="en-US" sz="1600" dirty="0">
                          <a:latin typeface="Times New Roman" panose="02020603050405020304" pitchFamily="18" charset="0"/>
                          <a:cs typeface="Times New Roman" panose="02020603050405020304" pitchFamily="18" charset="0"/>
                        </a:rPr>
                        <a:t>2019</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CVPR)</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Wu, Y.; Abd </a:t>
                      </a:r>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Almageed</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 W.; Natarajan, P</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151841">
                <a:tc>
                  <a:txBody>
                    <a:bodyPr/>
                    <a:lstStyle/>
                    <a:p>
                      <a:pPr algn="ctr"/>
                      <a:r>
                        <a:rPr lang="en-US" sz="1600" dirty="0">
                          <a:latin typeface="Times New Roman" panose="02020603050405020304" pitchFamily="18" charset="0"/>
                          <a:cs typeface="Times New Roman" panose="02020603050405020304" pitchFamily="18" charset="0"/>
                        </a:rPr>
                        <a:t>4.</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A survey on image tampering and its detection in real-world photos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survey provides an overview on typical image tampering types, released image tampering datasets and recent tampering detection approaches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5000"/>
                        </a:lnSpc>
                        <a:spcBef>
                          <a:spcPts val="0"/>
                        </a:spcBef>
                        <a:spcAft>
                          <a:spcPts val="1000"/>
                        </a:spcAft>
                        <a:buClrTx/>
                        <a:buSzTx/>
                        <a:buFontTx/>
                        <a:buNone/>
                        <a:tabLst/>
                        <a:defRPr/>
                      </a:pPr>
                      <a:r>
                        <a:rPr lang="en-US" sz="1600" dirty="0">
                          <a:latin typeface="Times New Roman" panose="02020603050405020304" pitchFamily="18" charset="0"/>
                          <a:cs typeface="Times New Roman" panose="02020603050405020304" pitchFamily="18" charset="0"/>
                        </a:rPr>
                        <a:t>Signal Processing Methods</a:t>
                      </a:r>
                      <a:r>
                        <a:rPr lang="en-US" sz="1600">
                          <a:latin typeface="Times New Roman" panose="02020603050405020304" pitchFamily="18" charset="0"/>
                          <a:cs typeface="Times New Roman" panose="02020603050405020304" pitchFamily="18" charset="0"/>
                        </a:rPr>
                        <a:t>, Image </a:t>
                      </a:r>
                      <a:r>
                        <a:rPr lang="en-US" sz="1600" dirty="0">
                          <a:latin typeface="Times New Roman" panose="02020603050405020304" pitchFamily="18" charset="0"/>
                          <a:cs typeface="Times New Roman" panose="02020603050405020304" pitchFamily="18" charset="0"/>
                        </a:rPr>
                        <a:t>Cloning and Morphing Detection</a:t>
                      </a:r>
                    </a:p>
                    <a:p>
                      <a:pPr algn="l">
                        <a:lnSpc>
                          <a:spcPct val="105000"/>
                        </a:lnSpc>
                        <a:spcAft>
                          <a:spcPts val="1000"/>
                        </a:spcAft>
                      </a:pPr>
                      <a:endPar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175" marR="1270" marT="97155" marB="3810"/>
                </a:tc>
                <a:tc>
                  <a:txBody>
                    <a:bodyPr/>
                    <a:lstStyle/>
                    <a:p>
                      <a:pPr algn="l"/>
                      <a:r>
                        <a:rPr lang="en-US" sz="1600" dirty="0">
                          <a:latin typeface="Times New Roman" panose="02020603050405020304" pitchFamily="18" charset="0"/>
                          <a:cs typeface="Times New Roman" panose="02020603050405020304" pitchFamily="18" charset="0"/>
                        </a:rPr>
                        <a:t>2019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Zheng, L.; Zhang, Y.; Thing, V.L</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58109284"/>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US" sz="3200" b="1" dirty="0">
                <a:solidFill>
                  <a:srgbClr val="6666FF"/>
                </a:solidFill>
              </a:rPr>
              <a:t>MINIMUM SYSTEM REQUIREMENTS</a:t>
            </a:r>
            <a:endParaRPr lang="en-IN" sz="3200" b="1" dirty="0">
              <a:solidFill>
                <a:srgbClr val="6666FF"/>
              </a:solidFill>
            </a:endParaRPr>
          </a:p>
        </p:txBody>
      </p:sp>
      <p:sp>
        <p:nvSpPr>
          <p:cNvPr id="5" name="TextBox 4"/>
          <p:cNvSpPr txBox="1"/>
          <p:nvPr/>
        </p:nvSpPr>
        <p:spPr>
          <a:xfrm>
            <a:off x="928918" y="1640126"/>
            <a:ext cx="10305143" cy="5038367"/>
          </a:xfrm>
          <a:prstGeom prst="rect">
            <a:avLst/>
          </a:prstGeom>
          <a:noFill/>
        </p:spPr>
        <p:txBody>
          <a:bodyPr wrap="square" rtlCol="0">
            <a:spAutoFit/>
          </a:bodyPr>
          <a:lstStyle/>
          <a:p>
            <a:pPr>
              <a:lnSpc>
                <a:spcPct val="150000"/>
              </a:lnSpc>
            </a:pPr>
            <a:r>
              <a:rPr lang="en-GB" sz="2400" b="1" dirty="0">
                <a:solidFill>
                  <a:srgbClr val="FF0000"/>
                </a:solidFill>
              </a:rPr>
              <a:t>Software Requirements:</a:t>
            </a:r>
            <a:r>
              <a:rPr lang="en-GB" sz="2400" b="1" dirty="0"/>
              <a:t>							</a:t>
            </a:r>
            <a:endParaRPr lang="en-GB" dirty="0"/>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Server-side Script             	:   Python 3.6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IDE			               	:  VS code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Libraries Used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Numpy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IO, OS,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Keras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pandas,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tensorflow,Opencv</a:t>
            </a:r>
            <a:r>
              <a:rPr lang="en-GB" sz="2200" dirty="0"/>
              <a:t>                                         </a:t>
            </a:r>
            <a:endParaRPr lang="en-GB" dirty="0"/>
          </a:p>
          <a:p>
            <a:pPr>
              <a:lnSpc>
                <a:spcPct val="150000"/>
              </a:lnSpc>
            </a:pPr>
            <a:r>
              <a:rPr lang="en-GB" sz="2400" b="1" dirty="0">
                <a:solidFill>
                  <a:srgbClr val="FF0000"/>
                </a:solidFill>
              </a:rPr>
              <a:t>Hardware Requirements:</a:t>
            </a:r>
            <a:endParaRPr lang="en-GB" sz="2000" b="1" dirty="0"/>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Processor            	               :  I5/Intel Processor</a:t>
            </a:r>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RAM                                   :  8GB (min)</a:t>
            </a:r>
          </a:p>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Hard Disk                           :  128 GB</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973550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AB2D-934D-63E0-22F4-2CBBA5792F03}"/>
              </a:ext>
            </a:extLst>
          </p:cNvPr>
          <p:cNvSpPr>
            <a:spLocks noGrp="1"/>
          </p:cNvSpPr>
          <p:nvPr>
            <p:ph type="title"/>
          </p:nvPr>
        </p:nvSpPr>
        <p:spPr>
          <a:xfrm>
            <a:off x="1642359" y="2857500"/>
            <a:ext cx="8683348" cy="1143000"/>
          </a:xfrm>
        </p:spPr>
        <p:txBody>
          <a:bodyPr/>
          <a:lstStyle/>
          <a:p>
            <a:pPr marL="0" indent="0" algn="ctr">
              <a:buNone/>
            </a:pPr>
            <a:r>
              <a:rPr lang="en-IN" sz="5400" dirty="0">
                <a:solidFill>
                  <a:schemeClr val="tx2">
                    <a:lumMod val="60000"/>
                    <a:lumOff val="40000"/>
                  </a:schemeClr>
                </a:solidFill>
              </a:rPr>
              <a:t>ANALYSIS AND DESIGN</a:t>
            </a:r>
          </a:p>
        </p:txBody>
      </p:sp>
    </p:spTree>
    <p:extLst>
      <p:ext uri="{BB962C8B-B14F-4D97-AF65-F5344CB8AC3E}">
        <p14:creationId xmlns:p14="http://schemas.microsoft.com/office/powerpoint/2010/main" val="1263573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5FCFE-6F14-B989-6114-A0E941199F46}"/>
              </a:ext>
            </a:extLst>
          </p:cNvPr>
          <p:cNvSpPr>
            <a:spLocks noGrp="1"/>
          </p:cNvSpPr>
          <p:nvPr>
            <p:ph sz="quarter" idx="13"/>
          </p:nvPr>
        </p:nvSpPr>
        <p:spPr>
          <a:xfrm>
            <a:off x="112114" y="91440"/>
            <a:ext cx="11967772" cy="6675120"/>
          </a:xfrm>
          <a:ln>
            <a:noFill/>
          </a:ln>
        </p:spPr>
        <p:txBody>
          <a:bodyPr>
            <a:normAutofit/>
          </a:bodyPr>
          <a:lstStyle/>
          <a:p>
            <a:pPr marL="45720" indent="0" algn="ctr">
              <a:buNone/>
            </a:pPr>
            <a:r>
              <a:rPr lang="en-IN" sz="3200" b="1" dirty="0">
                <a:solidFill>
                  <a:schemeClr val="accent1">
                    <a:lumMod val="75000"/>
                  </a:schemeClr>
                </a:solidFill>
                <a:latin typeface="Times New Roman" panose="02020603050405020304" pitchFamily="18" charset="0"/>
                <a:cs typeface="Times New Roman" panose="02020603050405020304" pitchFamily="18" charset="0"/>
              </a:rPr>
              <a:t>Analysis </a:t>
            </a:r>
          </a:p>
          <a:p>
            <a:pPr marL="45720" indent="0" algn="ctr">
              <a:buNone/>
            </a:pPr>
            <a:r>
              <a:rPr lang="en-IN" sz="2800" b="1"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 and User Modules</a:t>
            </a: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26585C6F-5F9B-2DAF-BF8F-270350EF3D12}"/>
              </a:ext>
            </a:extLst>
          </p:cNvPr>
          <p:cNvSpPr txBox="1">
            <a:spLocks/>
          </p:cNvSpPr>
          <p:nvPr/>
        </p:nvSpPr>
        <p:spPr>
          <a:xfrm>
            <a:off x="631723" y="1125614"/>
            <a:ext cx="10515600" cy="5640946"/>
          </a:xfrm>
          <a:prstGeom prst="rect">
            <a:avLst/>
          </a:prstGeom>
        </p:spPr>
        <p:txBody>
          <a:bodyPr>
            <a:normAutofit/>
          </a:bodyPr>
          <a:lst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a:lstStyle>
          <a:p>
            <a:pPr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User</a:t>
            </a:r>
            <a:r>
              <a:rPr lang="en-IN" sz="2000" dirty="0">
                <a:latin typeface="Times New Roman" panose="02020603050405020304" pitchFamily="18" charset="0"/>
                <a:cs typeface="Times New Roman" panose="02020603050405020304" pitchFamily="18" charset="0"/>
              </a:rPr>
              <a:t>: </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gathering: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itchFamily="18" charset="0"/>
              <a:buNone/>
            </a:pPr>
            <a:r>
              <a:rPr lang="en-IN" sz="2000" dirty="0">
                <a:latin typeface="Times New Roman" panose="02020603050405020304" pitchFamily="18" charset="0"/>
                <a:cs typeface="Times New Roman" panose="02020603050405020304" pitchFamily="18" charset="0"/>
              </a:rPr>
              <a:t>	Needs to gather the information or data from the open source, this will be use in the train the 	models.</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itchFamily="18" charset="0"/>
              <a:buNone/>
            </a:pPr>
            <a:r>
              <a:rPr lang="en-IN" sz="2000" dirty="0">
                <a:latin typeface="Times New Roman" panose="02020603050405020304" pitchFamily="18" charset="0"/>
                <a:cs typeface="Times New Roman" panose="02020603050405020304" pitchFamily="18" charset="0"/>
              </a:rPr>
              <a:t>	Data need to be pre-processed according the models it helps to increase the accuracy of the 	model and better information about the data.</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Feature Engineering: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itchFamily="18" charset="0"/>
              <a:buNone/>
            </a:pPr>
            <a:r>
              <a:rPr lang="en-IN" sz="2000" dirty="0">
                <a:latin typeface="Times New Roman" panose="02020603050405020304" pitchFamily="18" charset="0"/>
                <a:cs typeface="Times New Roman" panose="02020603050405020304" pitchFamily="18" charset="0"/>
              </a:rPr>
              <a:t>	In this step features are selected based on the priority of the column data, by this we can 	reduce the time investing on many columns.</a:t>
            </a:r>
          </a:p>
          <a:p>
            <a:pPr marL="0" indent="0" algn="just">
              <a:lnSpc>
                <a:spcPct val="150000"/>
              </a:lnSpc>
              <a:buFont typeface="Georgia" pitchFamily="18" charse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231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16B3FA-BB26-5807-A8BA-84CA1077A109}"/>
              </a:ext>
            </a:extLst>
          </p:cNvPr>
          <p:cNvSpPr/>
          <p:nvPr/>
        </p:nvSpPr>
        <p:spPr>
          <a:xfrm>
            <a:off x="815662" y="784249"/>
            <a:ext cx="10560676" cy="5088573"/>
          </a:xfrm>
          <a:prstGeom prst="rect">
            <a:avLst/>
          </a:prstGeom>
        </p:spPr>
        <p:txBody>
          <a:bodyPr wrap="square">
            <a:spAutoFit/>
          </a:bodyPr>
          <a:lstStyle/>
          <a:p>
            <a:pPr marL="800100" lvl="1" indent="-342900">
              <a:lnSpc>
                <a:spcPct val="115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Model Building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To get the final result model building for the dataset is an important step. Based on the 	dataset we build the model for classification and regression. </a:t>
            </a: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View Results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User view’s the generated results from the model.</a:t>
            </a:r>
          </a:p>
          <a:p>
            <a:pPr marL="342900" lvl="0" indent="-342900">
              <a:lnSpc>
                <a:spcPct val="150000"/>
              </a:lnSpc>
              <a:spcAft>
                <a:spcPts val="1000"/>
              </a:spcAft>
              <a:buClr>
                <a:srgbClr val="000000"/>
              </a:buClr>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System:</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Model Checking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System checks model accuracy and it takes of the necessary for the model building</a:t>
            </a: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Generate Results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latin typeface="Times New Roman" panose="02020603050405020304" pitchFamily="18" charset="0"/>
                <a:ea typeface="Calibri" panose="020F0502020204030204" pitchFamily="34" charset="0"/>
              </a:rPr>
              <a:t>	System takes the input data from the users and produces the output</a:t>
            </a:r>
            <a:endParaRPr lang="en-IN" sz="2000" dirty="0"/>
          </a:p>
        </p:txBody>
      </p:sp>
    </p:spTree>
    <p:extLst>
      <p:ext uri="{BB962C8B-B14F-4D97-AF65-F5344CB8AC3E}">
        <p14:creationId xmlns:p14="http://schemas.microsoft.com/office/powerpoint/2010/main" val="195877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434414-8511-D136-CFB0-5B090B43536B}"/>
              </a:ext>
            </a:extLst>
          </p:cNvPr>
          <p:cNvSpPr txBox="1"/>
          <p:nvPr/>
        </p:nvSpPr>
        <p:spPr>
          <a:xfrm>
            <a:off x="4159897" y="-103052"/>
            <a:ext cx="3872204" cy="584775"/>
          </a:xfrm>
          <a:prstGeom prst="rect">
            <a:avLst/>
          </a:prstGeom>
          <a:noFill/>
        </p:spPr>
        <p:txBody>
          <a:bodyPr wrap="square" rtlCol="0">
            <a:spAutoFit/>
          </a:bodyPr>
          <a:lstStyle/>
          <a:p>
            <a:pPr algn="ctr"/>
            <a:r>
              <a:rPr lang="en-US" sz="3200" b="1" dirty="0">
                <a:solidFill>
                  <a:schemeClr val="bg2">
                    <a:lumMod val="50000"/>
                  </a:schemeClr>
                </a:solidFill>
                <a:effectLst>
                  <a:outerShdw blurRad="38100" dist="38100" dir="2700000" algn="tl">
                    <a:srgbClr val="000000">
                      <a:alpha val="43137"/>
                    </a:srgbClr>
                  </a:outerShdw>
                </a:effectLst>
              </a:rPr>
              <a:t>DESIGN</a:t>
            </a:r>
            <a:endParaRPr lang="en-IN" sz="3200" b="1" dirty="0"/>
          </a:p>
        </p:txBody>
      </p:sp>
      <p:grpSp>
        <p:nvGrpSpPr>
          <p:cNvPr id="16" name="Group 15">
            <a:extLst>
              <a:ext uri="{FF2B5EF4-FFF2-40B4-BE49-F238E27FC236}">
                <a16:creationId xmlns:a16="http://schemas.microsoft.com/office/drawing/2014/main" id="{70DC266D-F42F-86E9-3F4A-F75467AFE9ED}"/>
              </a:ext>
            </a:extLst>
          </p:cNvPr>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D6FCA0F-3999-6C19-A403-FC0F921D7193}"/>
                    </a:ext>
                  </a:extLst>
                </p14:cNvPr>
                <p14:cNvContentPartPr/>
                <p14:nvPr/>
              </p14:nvContentPartPr>
              <p14:xfrm>
                <a:off x="4771720" y="3554920"/>
                <a:ext cx="452880" cy="22320"/>
              </p14:xfrm>
            </p:contentPart>
          </mc:Choice>
          <mc:Fallback xmlns="">
            <p:pic>
              <p:nvPicPr>
                <p:cNvPr id="13" name="Ink 12">
                  <a:extLst>
                    <a:ext uri="{FF2B5EF4-FFF2-40B4-BE49-F238E27FC236}">
                      <a16:creationId xmlns:a16="http://schemas.microsoft.com/office/drawing/2014/main" id="{8D6FCA0F-3999-6C19-A403-FC0F921D7193}"/>
                    </a:ext>
                  </a:extLst>
                </p:cNvPr>
                <p:cNvPicPr/>
                <p:nvPr/>
              </p:nvPicPr>
              <p:blipFill>
                <a:blip r:embed="rId4"/>
                <a:stretch>
                  <a:fillRect/>
                </a:stretch>
              </p:blipFill>
              <p:spPr>
                <a:xfrm>
                  <a:off x="4754080" y="3536920"/>
                  <a:ext cx="4885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9434B6BA-F219-B18C-44E7-0B27F5498BCF}"/>
                    </a:ext>
                  </a:extLst>
                </p14:cNvPr>
                <p14:cNvContentPartPr/>
                <p14:nvPr/>
              </p14:nvContentPartPr>
              <p14:xfrm>
                <a:off x="4556440" y="3571120"/>
                <a:ext cx="56520" cy="30600"/>
              </p14:xfrm>
            </p:contentPart>
          </mc:Choice>
          <mc:Fallback xmlns="">
            <p:pic>
              <p:nvPicPr>
                <p:cNvPr id="14" name="Ink 13">
                  <a:extLst>
                    <a:ext uri="{FF2B5EF4-FFF2-40B4-BE49-F238E27FC236}">
                      <a16:creationId xmlns:a16="http://schemas.microsoft.com/office/drawing/2014/main" id="{9434B6BA-F219-B18C-44E7-0B27F5498BCF}"/>
                    </a:ext>
                  </a:extLst>
                </p:cNvPr>
                <p:cNvPicPr/>
                <p:nvPr/>
              </p:nvPicPr>
              <p:blipFill>
                <a:blip r:embed="rId6"/>
                <a:stretch>
                  <a:fillRect/>
                </a:stretch>
              </p:blipFill>
              <p:spPr>
                <a:xfrm>
                  <a:off x="4538440" y="3553120"/>
                  <a:ext cx="921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D92922C9-E091-8F83-BAA7-AB8DEB07021A}"/>
                    </a:ext>
                  </a:extLst>
                </p14:cNvPr>
                <p14:cNvContentPartPr/>
                <p14:nvPr/>
              </p14:nvContentPartPr>
              <p14:xfrm>
                <a:off x="4617640" y="3572920"/>
                <a:ext cx="72000" cy="18720"/>
              </p14:xfrm>
            </p:contentPart>
          </mc:Choice>
          <mc:Fallback xmlns="">
            <p:pic>
              <p:nvPicPr>
                <p:cNvPr id="15" name="Ink 14">
                  <a:extLst>
                    <a:ext uri="{FF2B5EF4-FFF2-40B4-BE49-F238E27FC236}">
                      <a16:creationId xmlns:a16="http://schemas.microsoft.com/office/drawing/2014/main" id="{D92922C9-E091-8F83-BAA7-AB8DEB07021A}"/>
                    </a:ext>
                  </a:extLst>
                </p:cNvPr>
                <p:cNvPicPr/>
                <p:nvPr/>
              </p:nvPicPr>
              <p:blipFill>
                <a:blip r:embed="rId8"/>
                <a:stretch>
                  <a:fillRect/>
                </a:stretch>
              </p:blipFill>
              <p:spPr>
                <a:xfrm>
                  <a:off x="4600000" y="3555280"/>
                  <a:ext cx="107640" cy="5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86A1307F-E12B-B1C9-475E-CE21BA821B83}"/>
                  </a:ext>
                </a:extLst>
              </p14:cNvPr>
              <p14:cNvContentPartPr/>
              <p14:nvPr/>
            </p14:nvContentPartPr>
            <p14:xfrm>
              <a:off x="6012060" y="1935300"/>
              <a:ext cx="360" cy="360"/>
            </p14:xfrm>
          </p:contentPart>
        </mc:Choice>
        <mc:Fallback xmlns="">
          <p:pic>
            <p:nvPicPr>
              <p:cNvPr id="17" name="Ink 16">
                <a:extLst>
                  <a:ext uri="{FF2B5EF4-FFF2-40B4-BE49-F238E27FC236}">
                    <a16:creationId xmlns:a16="http://schemas.microsoft.com/office/drawing/2014/main" id="{86A1307F-E12B-B1C9-475E-CE21BA821B83}"/>
                  </a:ext>
                </a:extLst>
              </p:cNvPr>
              <p:cNvPicPr/>
              <p:nvPr/>
            </p:nvPicPr>
            <p:blipFill>
              <a:blip r:embed="rId10"/>
              <a:stretch>
                <a:fillRect/>
              </a:stretch>
            </p:blipFill>
            <p:spPr>
              <a:xfrm>
                <a:off x="5994420" y="1917300"/>
                <a:ext cx="36000" cy="36000"/>
              </a:xfrm>
              <a:prstGeom prst="rect">
                <a:avLst/>
              </a:prstGeom>
            </p:spPr>
          </p:pic>
        </mc:Fallback>
      </mc:AlternateContent>
      <p:sp>
        <p:nvSpPr>
          <p:cNvPr id="21" name="Rectangle 20">
            <a:extLst>
              <a:ext uri="{FF2B5EF4-FFF2-40B4-BE49-F238E27FC236}">
                <a16:creationId xmlns:a16="http://schemas.microsoft.com/office/drawing/2014/main" id="{883D3E69-B7C9-66B5-CC89-7A9E0F694FE0}"/>
              </a:ext>
            </a:extLst>
          </p:cNvPr>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5F6C913F-451A-7D64-D0DF-013AB95C2B26}"/>
              </a:ext>
            </a:extLst>
          </p:cNvPr>
          <p:cNvSpPr txBox="1"/>
          <p:nvPr/>
        </p:nvSpPr>
        <p:spPr>
          <a:xfrm>
            <a:off x="3963173" y="443435"/>
            <a:ext cx="4481029" cy="400110"/>
          </a:xfrm>
          <a:prstGeom prst="rect">
            <a:avLst/>
          </a:prstGeom>
          <a:noFill/>
        </p:spPr>
        <p:txBody>
          <a:bodyPr wrap="square" rtlCol="0">
            <a:spAutoFit/>
          </a:bodyPr>
          <a:lstStyle/>
          <a:p>
            <a:pPr algn="ctr"/>
            <a:r>
              <a:rPr lang="en-US" sz="2000" b="1" dirty="0"/>
              <a:t> Data Flow Diagram </a:t>
            </a:r>
            <a:endParaRPr lang="en-IN" sz="2000" b="1" dirty="0"/>
          </a:p>
        </p:txBody>
      </p:sp>
      <p:pic>
        <p:nvPicPr>
          <p:cNvPr id="3" name="Content Placeholder 3">
            <a:extLst>
              <a:ext uri="{FF2B5EF4-FFF2-40B4-BE49-F238E27FC236}">
                <a16:creationId xmlns:a16="http://schemas.microsoft.com/office/drawing/2014/main" id="{13EDCF65-28FC-F485-7863-5013C5C12258}"/>
              </a:ext>
            </a:extLst>
          </p:cNvPr>
          <p:cNvPicPr>
            <a:picLocks noChangeAspect="1"/>
          </p:cNvPicPr>
          <p:nvPr/>
        </p:nvPicPr>
        <p:blipFill>
          <a:blip r:embed="rId11"/>
          <a:stretch>
            <a:fillRect/>
          </a:stretch>
        </p:blipFill>
        <p:spPr>
          <a:xfrm>
            <a:off x="2401292" y="843545"/>
            <a:ext cx="7604790" cy="5655501"/>
          </a:xfrm>
          <a:prstGeom prst="rect">
            <a:avLst/>
          </a:prstGeom>
        </p:spPr>
      </p:pic>
    </p:spTree>
    <p:extLst>
      <p:ext uri="{BB962C8B-B14F-4D97-AF65-F5344CB8AC3E}">
        <p14:creationId xmlns:p14="http://schemas.microsoft.com/office/powerpoint/2010/main" val="2406213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4A9F5C-4E0D-AE5C-B8C4-FDF77AC0D82B}"/>
              </a:ext>
            </a:extLst>
          </p:cNvPr>
          <p:cNvPicPr>
            <a:picLocks noChangeAspect="1"/>
          </p:cNvPicPr>
          <p:nvPr/>
        </p:nvPicPr>
        <p:blipFill>
          <a:blip r:embed="rId2"/>
          <a:stretch>
            <a:fillRect/>
          </a:stretch>
        </p:blipFill>
        <p:spPr>
          <a:xfrm>
            <a:off x="2866251" y="1295993"/>
            <a:ext cx="6174658" cy="5368807"/>
          </a:xfrm>
          <a:prstGeom prst="rect">
            <a:avLst/>
          </a:prstGeom>
        </p:spPr>
      </p:pic>
      <p:sp>
        <p:nvSpPr>
          <p:cNvPr id="6" name="TextBox 5">
            <a:extLst>
              <a:ext uri="{FF2B5EF4-FFF2-40B4-BE49-F238E27FC236}">
                <a16:creationId xmlns:a16="http://schemas.microsoft.com/office/drawing/2014/main" id="{2485D077-0219-98D4-C936-2100C1356E7A}"/>
              </a:ext>
            </a:extLst>
          </p:cNvPr>
          <p:cNvSpPr txBox="1"/>
          <p:nvPr/>
        </p:nvSpPr>
        <p:spPr>
          <a:xfrm>
            <a:off x="2866251" y="332387"/>
            <a:ext cx="6324401" cy="369332"/>
          </a:xfrm>
          <a:prstGeom prst="rect">
            <a:avLst/>
          </a:prstGeom>
          <a:noFill/>
        </p:spPr>
        <p:txBody>
          <a:bodyPr wrap="square">
            <a:spAutoFit/>
          </a:bodyPr>
          <a:lstStyle/>
          <a:p>
            <a:pPr algn="ctr"/>
            <a:r>
              <a:rPr lang="en-US" sz="1800" b="1" dirty="0">
                <a:solidFill>
                  <a:schemeClr val="bg2">
                    <a:lumMod val="50000"/>
                  </a:schemeClr>
                </a:solidFill>
                <a:effectLst>
                  <a:outerShdw blurRad="38100" dist="38100" dir="2700000" algn="tl">
                    <a:srgbClr val="000000">
                      <a:alpha val="43137"/>
                    </a:srgbClr>
                  </a:outerShdw>
                </a:effectLst>
              </a:rPr>
              <a:t>UML DIAGRAMS</a:t>
            </a:r>
            <a:endParaRPr lang="en-IN" sz="1800" dirty="0"/>
          </a:p>
        </p:txBody>
      </p:sp>
      <p:sp>
        <p:nvSpPr>
          <p:cNvPr id="8" name="TextBox 7">
            <a:extLst>
              <a:ext uri="{FF2B5EF4-FFF2-40B4-BE49-F238E27FC236}">
                <a16:creationId xmlns:a16="http://schemas.microsoft.com/office/drawing/2014/main" id="{872452C9-2B4F-0C55-9E9E-2285971B49C1}"/>
              </a:ext>
            </a:extLst>
          </p:cNvPr>
          <p:cNvSpPr txBox="1"/>
          <p:nvPr/>
        </p:nvSpPr>
        <p:spPr>
          <a:xfrm>
            <a:off x="2931567" y="814190"/>
            <a:ext cx="6097554" cy="369332"/>
          </a:xfrm>
          <a:prstGeom prst="rect">
            <a:avLst/>
          </a:prstGeom>
          <a:noFill/>
        </p:spPr>
        <p:txBody>
          <a:bodyPr wrap="square">
            <a:spAutoFit/>
          </a:bodyPr>
          <a:lstStyle/>
          <a:p>
            <a:pPr algn="ctr"/>
            <a:r>
              <a:rPr lang="en-US" sz="1800" b="1" dirty="0"/>
              <a:t>USE CASE DIAGRAM</a:t>
            </a:r>
            <a:endParaRPr lang="en-IN" sz="1800" b="1" dirty="0"/>
          </a:p>
        </p:txBody>
      </p:sp>
    </p:spTree>
    <p:extLst>
      <p:ext uri="{BB962C8B-B14F-4D97-AF65-F5344CB8AC3E}">
        <p14:creationId xmlns:p14="http://schemas.microsoft.com/office/powerpoint/2010/main" val="974764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0DC266D-F42F-86E9-3F4A-F75467AFE9ED}"/>
              </a:ext>
            </a:extLst>
          </p:cNvPr>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D6FCA0F-3999-6C19-A403-FC0F921D7193}"/>
                    </a:ext>
                  </a:extLst>
                </p14:cNvPr>
                <p14:cNvContentPartPr/>
                <p14:nvPr/>
              </p14:nvContentPartPr>
              <p14:xfrm>
                <a:off x="4771720" y="3554920"/>
                <a:ext cx="452880" cy="22320"/>
              </p14:xfrm>
            </p:contentPart>
          </mc:Choice>
          <mc:Fallback xmlns="">
            <p:pic>
              <p:nvPicPr>
                <p:cNvPr id="13" name="Ink 12">
                  <a:extLst>
                    <a:ext uri="{FF2B5EF4-FFF2-40B4-BE49-F238E27FC236}">
                      <a16:creationId xmlns:a16="http://schemas.microsoft.com/office/drawing/2014/main" id="{8D6FCA0F-3999-6C19-A403-FC0F921D7193}"/>
                    </a:ext>
                  </a:extLst>
                </p:cNvPr>
                <p:cNvPicPr/>
                <p:nvPr/>
              </p:nvPicPr>
              <p:blipFill>
                <a:blip r:embed="rId3"/>
                <a:stretch>
                  <a:fillRect/>
                </a:stretch>
              </p:blipFill>
              <p:spPr>
                <a:xfrm>
                  <a:off x="4753720" y="3537206"/>
                  <a:ext cx="488520" cy="57394"/>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9434B6BA-F219-B18C-44E7-0B27F5498BCF}"/>
                    </a:ext>
                  </a:extLst>
                </p14:cNvPr>
                <p14:cNvContentPartPr/>
                <p14:nvPr/>
              </p14:nvContentPartPr>
              <p14:xfrm>
                <a:off x="4556440" y="3571120"/>
                <a:ext cx="56520" cy="30600"/>
              </p14:xfrm>
            </p:contentPart>
          </mc:Choice>
          <mc:Fallback xmlns="">
            <p:pic>
              <p:nvPicPr>
                <p:cNvPr id="14" name="Ink 13">
                  <a:extLst>
                    <a:ext uri="{FF2B5EF4-FFF2-40B4-BE49-F238E27FC236}">
                      <a16:creationId xmlns:a16="http://schemas.microsoft.com/office/drawing/2014/main" id="{9434B6BA-F219-B18C-44E7-0B27F5498BCF}"/>
                    </a:ext>
                  </a:extLst>
                </p:cNvPr>
                <p:cNvPicPr/>
                <p:nvPr/>
              </p:nvPicPr>
              <p:blipFill>
                <a:blip r:embed="rId5"/>
                <a:stretch>
                  <a:fillRect/>
                </a:stretch>
              </p:blipFill>
              <p:spPr>
                <a:xfrm>
                  <a:off x="4538440" y="3553120"/>
                  <a:ext cx="921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D92922C9-E091-8F83-BAA7-AB8DEB07021A}"/>
                    </a:ext>
                  </a:extLst>
                </p14:cNvPr>
                <p14:cNvContentPartPr/>
                <p14:nvPr/>
              </p14:nvContentPartPr>
              <p14:xfrm>
                <a:off x="4617640" y="3572920"/>
                <a:ext cx="72000" cy="18720"/>
              </p14:xfrm>
            </p:contentPart>
          </mc:Choice>
          <mc:Fallback xmlns="">
            <p:pic>
              <p:nvPicPr>
                <p:cNvPr id="15" name="Ink 14">
                  <a:extLst>
                    <a:ext uri="{FF2B5EF4-FFF2-40B4-BE49-F238E27FC236}">
                      <a16:creationId xmlns:a16="http://schemas.microsoft.com/office/drawing/2014/main" id="{D92922C9-E091-8F83-BAA7-AB8DEB07021A}"/>
                    </a:ext>
                  </a:extLst>
                </p:cNvPr>
                <p:cNvPicPr/>
                <p:nvPr/>
              </p:nvPicPr>
              <p:blipFill>
                <a:blip r:embed="rId7"/>
                <a:stretch>
                  <a:fillRect/>
                </a:stretch>
              </p:blipFill>
              <p:spPr>
                <a:xfrm>
                  <a:off x="4599550" y="3554920"/>
                  <a:ext cx="107819" cy="5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86A1307F-E12B-B1C9-475E-CE21BA821B83}"/>
                  </a:ext>
                </a:extLst>
              </p14:cNvPr>
              <p14:cNvContentPartPr/>
              <p14:nvPr/>
            </p14:nvContentPartPr>
            <p14:xfrm>
              <a:off x="6012060" y="1935300"/>
              <a:ext cx="360" cy="360"/>
            </p14:xfrm>
          </p:contentPart>
        </mc:Choice>
        <mc:Fallback xmlns="">
          <p:pic>
            <p:nvPicPr>
              <p:cNvPr id="17" name="Ink 16">
                <a:extLst>
                  <a:ext uri="{FF2B5EF4-FFF2-40B4-BE49-F238E27FC236}">
                    <a16:creationId xmlns:a16="http://schemas.microsoft.com/office/drawing/2014/main" id="{86A1307F-E12B-B1C9-475E-CE21BA821B83}"/>
                  </a:ext>
                </a:extLst>
              </p:cNvPr>
              <p:cNvPicPr/>
              <p:nvPr/>
            </p:nvPicPr>
            <p:blipFill>
              <a:blip r:embed="rId9"/>
              <a:stretch>
                <a:fillRect/>
              </a:stretch>
            </p:blipFill>
            <p:spPr>
              <a:xfrm>
                <a:off x="5994060" y="1917300"/>
                <a:ext cx="36000" cy="36000"/>
              </a:xfrm>
              <a:prstGeom prst="rect">
                <a:avLst/>
              </a:prstGeom>
            </p:spPr>
          </p:pic>
        </mc:Fallback>
      </mc:AlternateContent>
      <p:sp>
        <p:nvSpPr>
          <p:cNvPr id="21" name="Rectangle 20">
            <a:extLst>
              <a:ext uri="{FF2B5EF4-FFF2-40B4-BE49-F238E27FC236}">
                <a16:creationId xmlns:a16="http://schemas.microsoft.com/office/drawing/2014/main" id="{883D3E69-B7C9-66B5-CC89-7A9E0F694FE0}"/>
              </a:ext>
            </a:extLst>
          </p:cNvPr>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310BCFC5-0642-2B97-E616-9D36F04B06EC}"/>
              </a:ext>
            </a:extLst>
          </p:cNvPr>
          <p:cNvSpPr txBox="1"/>
          <p:nvPr/>
        </p:nvSpPr>
        <p:spPr>
          <a:xfrm>
            <a:off x="3771545" y="87208"/>
            <a:ext cx="4481029" cy="523220"/>
          </a:xfrm>
          <a:prstGeom prst="rect">
            <a:avLst/>
          </a:prstGeom>
          <a:noFill/>
          <a:ln>
            <a:noFill/>
          </a:ln>
        </p:spPr>
        <p:txBody>
          <a:bodyPr wrap="square" rtlCol="0">
            <a:spAutoFit/>
          </a:bodyPr>
          <a:lstStyle/>
          <a:p>
            <a:pPr algn="ctr"/>
            <a:r>
              <a:rPr lang="en-US" sz="2800" dirty="0"/>
              <a:t>SEQUENCE DIAGRAM</a:t>
            </a:r>
            <a:endParaRPr lang="en-IN" sz="2800" dirty="0"/>
          </a:p>
        </p:txBody>
      </p:sp>
      <p:pic>
        <p:nvPicPr>
          <p:cNvPr id="2" name="Picture 1">
            <a:extLst>
              <a:ext uri="{FF2B5EF4-FFF2-40B4-BE49-F238E27FC236}">
                <a16:creationId xmlns:a16="http://schemas.microsoft.com/office/drawing/2014/main" id="{D0150172-0760-E74F-09E3-B82E2914DCAD}"/>
              </a:ext>
            </a:extLst>
          </p:cNvPr>
          <p:cNvPicPr>
            <a:picLocks noChangeAspect="1"/>
          </p:cNvPicPr>
          <p:nvPr/>
        </p:nvPicPr>
        <p:blipFill>
          <a:blip r:embed="rId10"/>
          <a:stretch>
            <a:fillRect/>
          </a:stretch>
        </p:blipFill>
        <p:spPr>
          <a:xfrm>
            <a:off x="2576052" y="1011308"/>
            <a:ext cx="6066503" cy="5348208"/>
          </a:xfrm>
          <a:prstGeom prst="rect">
            <a:avLst/>
          </a:prstGeom>
        </p:spPr>
      </p:pic>
    </p:spTree>
    <p:extLst>
      <p:ext uri="{BB962C8B-B14F-4D97-AF65-F5344CB8AC3E}">
        <p14:creationId xmlns:p14="http://schemas.microsoft.com/office/powerpoint/2010/main" val="3243872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0DC266D-F42F-86E9-3F4A-F75467AFE9ED}"/>
              </a:ext>
            </a:extLst>
          </p:cNvPr>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D6FCA0F-3999-6C19-A403-FC0F921D7193}"/>
                    </a:ext>
                  </a:extLst>
                </p14:cNvPr>
                <p14:cNvContentPartPr/>
                <p14:nvPr/>
              </p14:nvContentPartPr>
              <p14:xfrm>
                <a:off x="4771720" y="3554920"/>
                <a:ext cx="452880" cy="22320"/>
              </p14:xfrm>
            </p:contentPart>
          </mc:Choice>
          <mc:Fallback xmlns="">
            <p:pic>
              <p:nvPicPr>
                <p:cNvPr id="13" name="Ink 12">
                  <a:extLst>
                    <a:ext uri="{FF2B5EF4-FFF2-40B4-BE49-F238E27FC236}">
                      <a16:creationId xmlns:a16="http://schemas.microsoft.com/office/drawing/2014/main" id="{8D6FCA0F-3999-6C19-A403-FC0F921D7193}"/>
                    </a:ext>
                  </a:extLst>
                </p:cNvPr>
                <p:cNvPicPr/>
                <p:nvPr/>
              </p:nvPicPr>
              <p:blipFill>
                <a:blip r:embed="rId3"/>
                <a:stretch>
                  <a:fillRect/>
                </a:stretch>
              </p:blipFill>
              <p:spPr>
                <a:xfrm>
                  <a:off x="4753720" y="3537206"/>
                  <a:ext cx="488520" cy="57394"/>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9434B6BA-F219-B18C-44E7-0B27F5498BCF}"/>
                    </a:ext>
                  </a:extLst>
                </p14:cNvPr>
                <p14:cNvContentPartPr/>
                <p14:nvPr/>
              </p14:nvContentPartPr>
              <p14:xfrm>
                <a:off x="4556440" y="3571120"/>
                <a:ext cx="56520" cy="30600"/>
              </p14:xfrm>
            </p:contentPart>
          </mc:Choice>
          <mc:Fallback xmlns="">
            <p:pic>
              <p:nvPicPr>
                <p:cNvPr id="14" name="Ink 13">
                  <a:extLst>
                    <a:ext uri="{FF2B5EF4-FFF2-40B4-BE49-F238E27FC236}">
                      <a16:creationId xmlns:a16="http://schemas.microsoft.com/office/drawing/2014/main" id="{9434B6BA-F219-B18C-44E7-0B27F5498BCF}"/>
                    </a:ext>
                  </a:extLst>
                </p:cNvPr>
                <p:cNvPicPr/>
                <p:nvPr/>
              </p:nvPicPr>
              <p:blipFill>
                <a:blip r:embed="rId5"/>
                <a:stretch>
                  <a:fillRect/>
                </a:stretch>
              </p:blipFill>
              <p:spPr>
                <a:xfrm>
                  <a:off x="4538440" y="3553120"/>
                  <a:ext cx="921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D92922C9-E091-8F83-BAA7-AB8DEB07021A}"/>
                    </a:ext>
                  </a:extLst>
                </p14:cNvPr>
                <p14:cNvContentPartPr/>
                <p14:nvPr/>
              </p14:nvContentPartPr>
              <p14:xfrm>
                <a:off x="4617640" y="3572920"/>
                <a:ext cx="72000" cy="18720"/>
              </p14:xfrm>
            </p:contentPart>
          </mc:Choice>
          <mc:Fallback xmlns="">
            <p:pic>
              <p:nvPicPr>
                <p:cNvPr id="15" name="Ink 14">
                  <a:extLst>
                    <a:ext uri="{FF2B5EF4-FFF2-40B4-BE49-F238E27FC236}">
                      <a16:creationId xmlns:a16="http://schemas.microsoft.com/office/drawing/2014/main" id="{D92922C9-E091-8F83-BAA7-AB8DEB07021A}"/>
                    </a:ext>
                  </a:extLst>
                </p:cNvPr>
                <p:cNvPicPr/>
                <p:nvPr/>
              </p:nvPicPr>
              <p:blipFill>
                <a:blip r:embed="rId7"/>
                <a:stretch>
                  <a:fillRect/>
                </a:stretch>
              </p:blipFill>
              <p:spPr>
                <a:xfrm>
                  <a:off x="4599550" y="3554920"/>
                  <a:ext cx="107819" cy="5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86A1307F-E12B-B1C9-475E-CE21BA821B83}"/>
                  </a:ext>
                </a:extLst>
              </p14:cNvPr>
              <p14:cNvContentPartPr/>
              <p14:nvPr/>
            </p14:nvContentPartPr>
            <p14:xfrm>
              <a:off x="6012060" y="1935300"/>
              <a:ext cx="360" cy="360"/>
            </p14:xfrm>
          </p:contentPart>
        </mc:Choice>
        <mc:Fallback xmlns="">
          <p:pic>
            <p:nvPicPr>
              <p:cNvPr id="17" name="Ink 16">
                <a:extLst>
                  <a:ext uri="{FF2B5EF4-FFF2-40B4-BE49-F238E27FC236}">
                    <a16:creationId xmlns:a16="http://schemas.microsoft.com/office/drawing/2014/main" id="{86A1307F-E12B-B1C9-475E-CE21BA821B83}"/>
                  </a:ext>
                </a:extLst>
              </p:cNvPr>
              <p:cNvPicPr/>
              <p:nvPr/>
            </p:nvPicPr>
            <p:blipFill>
              <a:blip r:embed="rId9"/>
              <a:stretch>
                <a:fillRect/>
              </a:stretch>
            </p:blipFill>
            <p:spPr>
              <a:xfrm>
                <a:off x="5994060" y="1917300"/>
                <a:ext cx="36000" cy="36000"/>
              </a:xfrm>
              <a:prstGeom prst="rect">
                <a:avLst/>
              </a:prstGeom>
            </p:spPr>
          </p:pic>
        </mc:Fallback>
      </mc:AlternateContent>
      <p:sp>
        <p:nvSpPr>
          <p:cNvPr id="21" name="Rectangle 20">
            <a:extLst>
              <a:ext uri="{FF2B5EF4-FFF2-40B4-BE49-F238E27FC236}">
                <a16:creationId xmlns:a16="http://schemas.microsoft.com/office/drawing/2014/main" id="{883D3E69-B7C9-66B5-CC89-7A9E0F694FE0}"/>
              </a:ext>
            </a:extLst>
          </p:cNvPr>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56A96A97-FBBF-4B44-BF36-E5D7F97FE09A}"/>
              </a:ext>
            </a:extLst>
          </p:cNvPr>
          <p:cNvSpPr txBox="1"/>
          <p:nvPr/>
        </p:nvSpPr>
        <p:spPr>
          <a:xfrm>
            <a:off x="3047223" y="325639"/>
            <a:ext cx="6097554" cy="523220"/>
          </a:xfrm>
          <a:prstGeom prst="rect">
            <a:avLst/>
          </a:prstGeom>
          <a:noFill/>
          <a:ln>
            <a:noFill/>
          </a:ln>
        </p:spPr>
        <p:txBody>
          <a:bodyPr wrap="square">
            <a:spAutoFit/>
          </a:bodyPr>
          <a:lstStyle/>
          <a:p>
            <a:pPr algn="ctr"/>
            <a:r>
              <a:rPr lang="en-IN" sz="2800" b="1" dirty="0"/>
              <a:t>CLASS DIAGRAM</a:t>
            </a:r>
          </a:p>
        </p:txBody>
      </p:sp>
      <p:pic>
        <p:nvPicPr>
          <p:cNvPr id="2" name="Picture 1">
            <a:extLst>
              <a:ext uri="{FF2B5EF4-FFF2-40B4-BE49-F238E27FC236}">
                <a16:creationId xmlns:a16="http://schemas.microsoft.com/office/drawing/2014/main" id="{BDBC05E0-19A5-57D1-5149-7BDD5D65B540}"/>
              </a:ext>
            </a:extLst>
          </p:cNvPr>
          <p:cNvPicPr>
            <a:picLocks noChangeAspect="1"/>
          </p:cNvPicPr>
          <p:nvPr/>
        </p:nvPicPr>
        <p:blipFill>
          <a:blip r:embed="rId10"/>
          <a:stretch>
            <a:fillRect/>
          </a:stretch>
        </p:blipFill>
        <p:spPr>
          <a:xfrm>
            <a:off x="1366684" y="1661652"/>
            <a:ext cx="8603226" cy="4378539"/>
          </a:xfrm>
          <a:prstGeom prst="rect">
            <a:avLst/>
          </a:prstGeom>
        </p:spPr>
      </p:pic>
    </p:spTree>
    <p:extLst>
      <p:ext uri="{BB962C8B-B14F-4D97-AF65-F5344CB8AC3E}">
        <p14:creationId xmlns:p14="http://schemas.microsoft.com/office/powerpoint/2010/main" val="202351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665FD7-9B04-8AB0-4838-BAAFEBADC73D}"/>
              </a:ext>
            </a:extLst>
          </p:cNvPr>
          <p:cNvSpPr txBox="1"/>
          <p:nvPr/>
        </p:nvSpPr>
        <p:spPr>
          <a:xfrm>
            <a:off x="3047223" y="112392"/>
            <a:ext cx="6097554" cy="523220"/>
          </a:xfrm>
          <a:prstGeom prst="rect">
            <a:avLst/>
          </a:prstGeom>
          <a:noFill/>
          <a:ln>
            <a:noFill/>
          </a:ln>
        </p:spPr>
        <p:txBody>
          <a:bodyPr wrap="square">
            <a:spAutoFit/>
          </a:bodyPr>
          <a:lstStyle/>
          <a:p>
            <a:pPr marL="0" algn="ctr" rtl="0" eaLnBrk="1" latinLnBrk="0" hangingPunct="1">
              <a:spcBef>
                <a:spcPts val="0"/>
              </a:spcBef>
              <a:spcAft>
                <a:spcPts val="0"/>
              </a:spcAft>
            </a:pPr>
            <a:r>
              <a:rPr lang="en-IN" sz="2800" kern="1200" dirty="0">
                <a:solidFill>
                  <a:srgbClr val="000000"/>
                </a:solidFill>
                <a:effectLst/>
                <a:latin typeface="Trebuchet MS" panose="020B0603020202020204" pitchFamily="34" charset="0"/>
                <a:ea typeface="+mn-ea"/>
                <a:cs typeface="+mn-cs"/>
              </a:rPr>
              <a:t>COLLABORATION DIAGRAM</a:t>
            </a:r>
            <a:endParaRPr lang="en-IN" sz="2800" dirty="0">
              <a:effectLst/>
            </a:endParaRPr>
          </a:p>
        </p:txBody>
      </p:sp>
      <p:pic>
        <p:nvPicPr>
          <p:cNvPr id="2" name="Picture 1">
            <a:extLst>
              <a:ext uri="{FF2B5EF4-FFF2-40B4-BE49-F238E27FC236}">
                <a16:creationId xmlns:a16="http://schemas.microsoft.com/office/drawing/2014/main" id="{8EEA1245-3019-7B70-39C1-C02D2E10E352}"/>
              </a:ext>
            </a:extLst>
          </p:cNvPr>
          <p:cNvPicPr>
            <a:picLocks noChangeAspect="1"/>
          </p:cNvPicPr>
          <p:nvPr/>
        </p:nvPicPr>
        <p:blipFill>
          <a:blip r:embed="rId2"/>
          <a:stretch>
            <a:fillRect/>
          </a:stretch>
        </p:blipFill>
        <p:spPr>
          <a:xfrm>
            <a:off x="3381520" y="865239"/>
            <a:ext cx="5132438" cy="5417573"/>
          </a:xfrm>
          <a:prstGeom prst="rect">
            <a:avLst/>
          </a:prstGeom>
        </p:spPr>
      </p:pic>
    </p:spTree>
    <p:extLst>
      <p:ext uri="{BB962C8B-B14F-4D97-AF65-F5344CB8AC3E}">
        <p14:creationId xmlns:p14="http://schemas.microsoft.com/office/powerpoint/2010/main" val="1557185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46E3FF-7009-6C76-B195-66E209DB097E}"/>
              </a:ext>
            </a:extLst>
          </p:cNvPr>
          <p:cNvSpPr txBox="1"/>
          <p:nvPr/>
        </p:nvSpPr>
        <p:spPr>
          <a:xfrm>
            <a:off x="3047223" y="323351"/>
            <a:ext cx="6097554" cy="523220"/>
          </a:xfrm>
          <a:prstGeom prst="rect">
            <a:avLst/>
          </a:prstGeom>
          <a:noFill/>
          <a:ln>
            <a:noFill/>
          </a:ln>
        </p:spPr>
        <p:txBody>
          <a:bodyPr wrap="square">
            <a:spAutoFit/>
          </a:bodyPr>
          <a:lstStyle/>
          <a:p>
            <a:pPr algn="ctr"/>
            <a:r>
              <a:rPr lang="en-IN" sz="2800" dirty="0"/>
              <a:t>DEPLOYMENT DIAGRAM</a:t>
            </a:r>
          </a:p>
        </p:txBody>
      </p:sp>
      <p:pic>
        <p:nvPicPr>
          <p:cNvPr id="2" name="Picture 1">
            <a:extLst>
              <a:ext uri="{FF2B5EF4-FFF2-40B4-BE49-F238E27FC236}">
                <a16:creationId xmlns:a16="http://schemas.microsoft.com/office/drawing/2014/main" id="{509188EE-50B0-90BA-AF8B-C0BCA699A658}"/>
              </a:ext>
            </a:extLst>
          </p:cNvPr>
          <p:cNvPicPr>
            <a:picLocks noChangeAspect="1"/>
          </p:cNvPicPr>
          <p:nvPr/>
        </p:nvPicPr>
        <p:blipFill>
          <a:blip r:embed="rId2"/>
          <a:stretch>
            <a:fillRect/>
          </a:stretch>
        </p:blipFill>
        <p:spPr>
          <a:xfrm>
            <a:off x="3313622" y="2043654"/>
            <a:ext cx="5564756" cy="3022868"/>
          </a:xfrm>
          <a:prstGeom prst="rect">
            <a:avLst/>
          </a:prstGeom>
        </p:spPr>
      </p:pic>
    </p:spTree>
    <p:extLst>
      <p:ext uri="{BB962C8B-B14F-4D97-AF65-F5344CB8AC3E}">
        <p14:creationId xmlns:p14="http://schemas.microsoft.com/office/powerpoint/2010/main" val="1313589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0955C-63F2-57CD-FEFF-4193C841D6B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DED3E66-89F6-007E-BA16-AC384B2B7B8F}"/>
              </a:ext>
            </a:extLst>
          </p:cNvPr>
          <p:cNvPicPr>
            <a:picLocks noChangeAspect="1"/>
          </p:cNvPicPr>
          <p:nvPr/>
        </p:nvPicPr>
        <p:blipFill>
          <a:blip r:embed="rId2"/>
          <a:stretch>
            <a:fillRect/>
          </a:stretch>
        </p:blipFill>
        <p:spPr>
          <a:xfrm>
            <a:off x="3711678" y="826207"/>
            <a:ext cx="4768644" cy="5933375"/>
          </a:xfrm>
          <a:prstGeom prst="rect">
            <a:avLst/>
          </a:prstGeom>
        </p:spPr>
      </p:pic>
      <p:sp>
        <p:nvSpPr>
          <p:cNvPr id="3" name="TextBox 4">
            <a:extLst>
              <a:ext uri="{FF2B5EF4-FFF2-40B4-BE49-F238E27FC236}">
                <a16:creationId xmlns:a16="http://schemas.microsoft.com/office/drawing/2014/main" id="{4A9BDEA4-758A-3134-4BB7-C62D43501712}"/>
              </a:ext>
            </a:extLst>
          </p:cNvPr>
          <p:cNvSpPr txBox="1"/>
          <p:nvPr/>
        </p:nvSpPr>
        <p:spPr>
          <a:xfrm>
            <a:off x="2897934" y="201054"/>
            <a:ext cx="6097554" cy="523220"/>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800" b="1" dirty="0"/>
              <a:t>ACTIVITY DIAGRAM</a:t>
            </a:r>
          </a:p>
        </p:txBody>
      </p:sp>
    </p:spTree>
    <p:extLst>
      <p:ext uri="{BB962C8B-B14F-4D97-AF65-F5344CB8AC3E}">
        <p14:creationId xmlns:p14="http://schemas.microsoft.com/office/powerpoint/2010/main" val="1779602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2EA295D-3C2C-FEA7-56F4-FFA81466921D}"/>
              </a:ext>
            </a:extLst>
          </p:cNvPr>
          <p:cNvSpPr txBox="1">
            <a:spLocks/>
          </p:cNvSpPr>
          <p:nvPr/>
        </p:nvSpPr>
        <p:spPr>
          <a:xfrm>
            <a:off x="239589" y="51768"/>
            <a:ext cx="11555505" cy="754478"/>
          </a:xfrm>
          <a:prstGeom prst="rect">
            <a:avLst/>
          </a:prstGeom>
          <a:ln>
            <a:solidFill>
              <a:schemeClr val="bg2">
                <a:lumMod val="50000"/>
              </a:schemeClr>
            </a:solidFill>
          </a:ln>
          <a:effectLst/>
        </p:spPr>
        <p:txBody>
          <a:bodyPr vert="horz" lIns="91440" tIns="45720" rIns="91440" bIns="45720" rtlCol="0" anchor="t" anchorCtr="0">
            <a:no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itchFamily="18" charset="0"/>
              <a:buNone/>
            </a:pPr>
            <a:r>
              <a:rPr lang="en-IN" sz="3600" dirty="0">
                <a:solidFill>
                  <a:schemeClr val="bg2">
                    <a:lumMod val="50000"/>
                  </a:schemeClr>
                </a:solidFill>
              </a:rPr>
              <a:t>Conclusion</a:t>
            </a:r>
          </a:p>
        </p:txBody>
      </p:sp>
      <p:sp>
        <p:nvSpPr>
          <p:cNvPr id="5" name="Rectangle 4">
            <a:extLst>
              <a:ext uri="{FF2B5EF4-FFF2-40B4-BE49-F238E27FC236}">
                <a16:creationId xmlns:a16="http://schemas.microsoft.com/office/drawing/2014/main" id="{9DDA2895-15CF-0E35-5045-04EB5E977F9C}"/>
              </a:ext>
            </a:extLst>
          </p:cNvPr>
          <p:cNvSpPr/>
          <p:nvPr/>
        </p:nvSpPr>
        <p:spPr>
          <a:xfrm>
            <a:off x="239588" y="1629024"/>
            <a:ext cx="11362475" cy="1421736"/>
          </a:xfrm>
          <a:prstGeom prst="rect">
            <a:avLst/>
          </a:prstGeom>
        </p:spPr>
        <p:txBody>
          <a:bodyPr wrap="square">
            <a:spAutoFit/>
          </a:bodyPr>
          <a:lstStyle/>
          <a:p>
            <a:pPr algn="just">
              <a:lnSpc>
                <a:spcPct val="150000"/>
              </a:lnSpc>
            </a:pPr>
            <a:r>
              <a:rPr lang="en-US" sz="20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The project has concluded that, we have developed an application by using deep learning methods to detect the image forgery. We can detect the image forgery with high accuracy by using OpenCV and MD5 methods. MD5 gives the better performance in image detection.</a:t>
            </a:r>
            <a:endParaRPr lang="en-IN" sz="2000" dirty="0"/>
          </a:p>
        </p:txBody>
      </p:sp>
    </p:spTree>
    <p:extLst>
      <p:ext uri="{BB962C8B-B14F-4D97-AF65-F5344CB8AC3E}">
        <p14:creationId xmlns:p14="http://schemas.microsoft.com/office/powerpoint/2010/main" val="1686759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p>
        </p:txBody>
      </p:sp>
      <p:sp>
        <p:nvSpPr>
          <p:cNvPr id="5" name="TextBox 4"/>
          <p:cNvSpPr txBox="1"/>
          <p:nvPr/>
        </p:nvSpPr>
        <p:spPr>
          <a:xfrm>
            <a:off x="815789" y="1619914"/>
            <a:ext cx="10803755" cy="3741409"/>
          </a:xfrm>
          <a:prstGeom prst="rect">
            <a:avLst/>
          </a:prstGeom>
          <a:noFill/>
        </p:spPr>
        <p:txBody>
          <a:bodyPr wrap="square" rtlCol="0">
            <a:spAutoFit/>
          </a:bodyPr>
          <a:lstStyle/>
          <a:p>
            <a:pPr marL="457200" indent="-457200" algn="just">
              <a:lnSpc>
                <a:spcPct val="150000"/>
              </a:lnSpc>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Xiao, B.; Wei, Y.; Bi, X.; Li, W.; Ma, J. Image splicing forgery detection combining coarse to refined convolutional neural network and adaptive clustering. Inf. Sci. 2020, 511, 172–191.</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Kwon, M.J.; Yu, I.J.; Nam, S.H.; Lee, H.K. CAT-Net: Compression Artifact Tracing Network for Detection and Localization of Image Splicing. In Proceedings of the 2021 IEEE Winter Conference on Applications of Computer Vision (WACV), Waikoloa, HI, USA, 5–9 January 2021; pp. 375–384.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Wu, Y.; Abd </a:t>
            </a:r>
            <a:r>
              <a:rPr lang="en-IN" sz="1600" dirty="0" err="1">
                <a:latin typeface="Times New Roman" panose="02020603050405020304" pitchFamily="18" charset="0"/>
                <a:cs typeface="Times New Roman" panose="02020603050405020304" pitchFamily="18" charset="0"/>
              </a:rPr>
              <a:t>Almageed</a:t>
            </a:r>
            <a:r>
              <a:rPr lang="en-IN" sz="1600" dirty="0">
                <a:latin typeface="Times New Roman" panose="02020603050405020304" pitchFamily="18" charset="0"/>
                <a:cs typeface="Times New Roman" panose="02020603050405020304" pitchFamily="18" charset="0"/>
              </a:rPr>
              <a:t>, W.; Natarajan, P. </a:t>
            </a:r>
            <a:r>
              <a:rPr lang="en-IN" sz="1600" dirty="0" err="1">
                <a:latin typeface="Times New Roman" panose="02020603050405020304" pitchFamily="18" charset="0"/>
                <a:cs typeface="Times New Roman" panose="02020603050405020304" pitchFamily="18" charset="0"/>
              </a:rPr>
              <a:t>ManTra</a:t>
            </a:r>
            <a:r>
              <a:rPr lang="en-IN" sz="1600" dirty="0">
                <a:latin typeface="Times New Roman" panose="02020603050405020304" pitchFamily="18" charset="0"/>
                <a:cs typeface="Times New Roman" panose="02020603050405020304" pitchFamily="18" charset="0"/>
              </a:rPr>
              <a:t>-Net: Manipulation Tracing Network for Detection and Localization of Image Forgeries With Anomalous Features. In Proceedings of the 2019 IEEE/CVF Conference on Computer Vision and Pattern Recognition (CVPR), Long Beach, CA, USA, 15–20 June 2019; pp. 9535–9544.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Zheng, L.; Zhang, Y.; Thing, V.L. A survey on image tampering and its detection in real-world photos. J. Vis. Commun. Image Represent. 2019, 58, 380–399.</a:t>
            </a:r>
          </a:p>
        </p:txBody>
      </p:sp>
    </p:spTree>
    <p:extLst>
      <p:ext uri="{BB962C8B-B14F-4D97-AF65-F5344CB8AC3E}">
        <p14:creationId xmlns:p14="http://schemas.microsoft.com/office/powerpoint/2010/main" val="1236775409"/>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extLst>
      <p:ext uri="{BB962C8B-B14F-4D97-AF65-F5344CB8AC3E}">
        <p14:creationId xmlns:p14="http://schemas.microsoft.com/office/powerpoint/2010/main" val="130271378"/>
      </p:ext>
    </p:extLst>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AITS</Template>
  <TotalTime>1167</TotalTime>
  <Words>1426</Words>
  <Application>Microsoft Office PowerPoint</Application>
  <PresentationFormat>Widescreen</PresentationFormat>
  <Paragraphs>142</Paragraphs>
  <Slides>22</Slides>
  <Notes>0</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22</vt:i4>
      </vt:variant>
    </vt:vector>
  </HeadingPairs>
  <TitlesOfParts>
    <vt:vector size="40" baseType="lpstr">
      <vt:lpstr>Algerian</vt:lpstr>
      <vt:lpstr>Arial</vt:lpstr>
      <vt:lpstr>Arial Narrow</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 ANNAMACHARYA INSTITUTE OF TECHNOLOGY AND SCIENCES::TIRUPATI (AUTONOMOUS)  DEPARTMENT OF ARTIFICIAL INTELLIGENCE A.Y.: 2024-2025  FIRST REVIEW [Academic year: 2024-25  *  Batch: 2021-25] </vt:lpstr>
      <vt:lpstr>                                 PROJECT TITLE</vt:lpstr>
      <vt:lpstr>ABSTRACT</vt:lpstr>
      <vt:lpstr>DOMAIN INTRODUCTION</vt:lpstr>
      <vt:lpstr>PowerPoint Presentation</vt:lpstr>
      <vt:lpstr>PowerPoint Presentation</vt:lpstr>
      <vt:lpstr>LITERATURE SURVEY</vt:lpstr>
      <vt:lpstr>PowerPoint Presentation</vt:lpstr>
      <vt:lpstr>MINIMUM SYSTEM REQUIREMENTS</vt:lpstr>
      <vt:lpstr>ANALYSIS AND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Ambavaram Prasanna</cp:lastModifiedBy>
  <cp:revision>72</cp:revision>
  <dcterms:created xsi:type="dcterms:W3CDTF">2021-12-20T13:54:07Z</dcterms:created>
  <dcterms:modified xsi:type="dcterms:W3CDTF">2025-02-05T12:39:03Z</dcterms:modified>
</cp:coreProperties>
</file>